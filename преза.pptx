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8" r:id="rId10"/>
    <p:sldId id="272" r:id="rId11"/>
    <p:sldId id="269" r:id="rId12"/>
    <p:sldId id="273" r:id="rId13"/>
    <p:sldId id="270" r:id="rId14"/>
    <p:sldId id="27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E9639D4-E3E2-4D34-9284-5A2195B3D0D7}" styleName="Светлый стиль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E8034E78-7F5D-4C2E-B375-FC64B27BC917}" styleName="Темный стиль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32DB98-C80A-491A-B0EB-ACC58FF0CAE4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1E3D4D-8DF1-4B4D-877E-1334E80E42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83358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>
                <a:effectLst/>
              </a:rPr>
              <a:t>В современном мире объемы неструктурированных данных растут экспоненциально, достигая зеттабайт. Поисковые системы, основанные на инвертированном индексе и булевых запросах, обеспечивают быстрый доступ к информации, что критично для образования, бизнеса и науки. Актуальность темы обусловлена их ролью в системах вроде Google и Яндекс.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E3D4D-8DF1-4B4D-877E-1334E80E427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9232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>
                <a:effectLst/>
              </a:rPr>
              <a:t>Цель исследования: изучить теоретические основы инвертированного индекса и алгоритмов обработки булевых запросов в информационно-поисковых системах.</a:t>
            </a:r>
          </a:p>
          <a:p>
            <a:r>
              <a:rPr lang="ru-RU" dirty="0">
                <a:effectLst/>
              </a:rPr>
              <a:t>Задачи: 1) проанализировать архитектуру поисковых систем; 2) описать структуру инвертированного индекса; 3) рассмотреть алгоритмы построения (BSBI, SPIMI); 4) изложить алгоритмы булевых запросов и оптимизации; 5) провести сравнительный анализ эффективности.</a:t>
            </a:r>
          </a:p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E3D4D-8DF1-4B4D-877E-1334E80E427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69813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1E3D4D-8DF1-4B4D-877E-1334E80E427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18200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72C921C-14BD-15EA-3B65-BFFA296664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9C46EA3-6745-F4F6-6111-429148354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67D7C95-DFA9-DC9C-FD71-38168472C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BDC88A5-FDF0-39FD-8E05-CA5DE34B5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BA074E7-5D23-2337-DC27-002486902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42428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61900A1-3481-BAB8-A5F4-4BF5A0149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F56B794-228C-315B-6E68-E52CDD945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4800E4A-47B7-CAEA-F62D-68D847DFA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80F718-D56C-3928-8E72-94B99BC17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DA9525A-4FBC-8862-5E4B-1CC9FC7B39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028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548DC6-76BD-9E27-F218-4F08EC08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C4A639B-40A2-499F-DBF2-213F3881D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B0A727C-8133-7729-CC6D-3F0562BB3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A6D2BF-D7D7-E6B7-A7CB-8FDB036E74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5E97C1A-AA09-F937-C268-886BE13E7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7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409940-0C81-0073-A998-C4365CB6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5D323D3-41B1-398C-101B-C0CF9520BDA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0696520-CC84-F921-2C48-9BD03F9128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89E60810-9C47-B0D6-A34C-186C7B6E4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B4382C6-5A57-0D55-CB31-80C6EB3A1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90604A6-67F0-42AB-D4E3-5E963D29E4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10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3FFAE40-122A-E065-BA6B-78303C4CDF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2EDD27B-D27E-984D-0AF2-5F5D333B9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0FCAB8EF-42AE-3E97-9B1A-8A2FE31264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5416301B-6987-2A7D-0127-69DADA9F5F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4D4296E-238B-FF93-66E9-5776BE052E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D3AFCCB5-C958-EF1B-A4F2-C7930F2CFD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6F26E2AC-873C-8E92-348D-5BD4747C86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4D9360E-A56C-E862-756D-A354F9F5B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63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DF2B1-7809-E34B-DCAE-49AB2E2A5A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00706C9-3AE2-FB6A-F680-9FE12FA65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C42C4B9A-22A9-95A5-EB3B-8CCBEF167E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C24573DB-56C5-F710-CC3F-DC8F7E9EF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546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68FA0CE-E24A-DF36-CD7E-CCE1B7469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125C634-A32C-D774-3859-4F259E75E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2AADBFF-2A26-998A-9633-5B6F23E219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7702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F5F069-8DD6-5635-8EB6-FB7A8673F0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DE812CE-ECFB-26FA-E0B7-68BBD8B66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0E04AF-1784-1B6E-57F6-1E023C43E8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C4436EB-503F-3DC9-A68A-21E2A7F4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CBF4EB-7579-E25A-1AFC-51230E5F6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E9E3540-9EB9-7564-B598-513B558695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209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173EE-8226-C2B2-82A9-0BFD8658AF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1C1BF99-272D-77B9-3761-DC9DEDD927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D0FBF70-188F-D4A7-1604-4DA23AFAA8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B3939BB-B72C-63A1-721B-7EFDB53275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673C246-F3A0-0D47-66B4-298DDA84AB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1F3EA1A-743D-22C5-CC0C-66DC4CA71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36435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178D52-EFD9-75A4-BF5E-8F376A2E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A74E7FD-4139-138E-E8AC-E488CFEC02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8A08E27-0956-9D3F-D9EF-E75ADED32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F983ACA-0D2F-B358-B734-CCE03D32A0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C10810C2-E652-2A0D-EA7F-5C68ABE83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1458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1A4D0350-E40D-EA45-70CA-6B6E7C7D37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39915F7E-1832-9359-962F-FD79D0073F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6DAC5E1-D47F-D346-DEBA-0602EED1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4C4112F-E97F-D916-DD63-B3C35E5E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2149F7C-3EB8-DA82-8E50-99F95763D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6570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600595-410C-8608-EBED-20100C101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BFD418A-35B9-FA5D-8788-EBDE849695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02EA6D2-6BB0-C28F-3120-6B3EDD0BD9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68AA8D-6ECF-453B-9B6B-12457D7294EB}" type="datetimeFigureOut">
              <a:rPr lang="en-US" smtClean="0"/>
              <a:t>3/11/2026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5FD9EA6-C665-9DFE-6E3B-F4D9691FFE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8D2957E-D63A-4982-5D21-AEDDEBCA3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15AA1-F1D8-4363-A0A2-17911A1596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477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BB6C30C-8D92-8CB4-EC0D-C728DCD7A8CB}"/>
              </a:ext>
            </a:extLst>
          </p:cNvPr>
          <p:cNvSpPr txBox="1"/>
          <p:nvPr/>
        </p:nvSpPr>
        <p:spPr>
          <a:xfrm>
            <a:off x="2594610" y="471577"/>
            <a:ext cx="700659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latin typeface="Cascadia Mono" panose="020B0609020000020004" pitchFamily="49" charset="0"/>
                <a:cs typeface="Cascadia Mono" panose="020B0609020000020004" pitchFamily="49" charset="0"/>
              </a:rPr>
              <a:t>МИНИСТЕРСТВО ОБРАЗОВАНИЯ И НАУКИ РФ ТВЕРСКОЙ ГОСУДАРСТВЕННЫЙ ТЕХНИЧЕСКИЙ УНИВЕРСИТЕТ ФАКУЛЬТЕТ ИНФОРМАЦИОННЫХ ТЕХНОЛОГИЙ КАФЕДРА «ПРОГРАММНОГО ОБЕСПЕЧЕНИЯ» ДИСЦИПЛИНА «АЛГОРИТМЫ И СТРУКТУРЫ ДАННЫХ»</a:t>
            </a:r>
            <a:endParaRPr lang="en-US" sz="2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F40064-6FDE-53A8-7798-0ED53EB80159}"/>
              </a:ext>
            </a:extLst>
          </p:cNvPr>
          <p:cNvSpPr txBox="1"/>
          <p:nvPr/>
        </p:nvSpPr>
        <p:spPr>
          <a:xfrm>
            <a:off x="2011680" y="2783063"/>
            <a:ext cx="81724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Курсовая работа</a:t>
            </a:r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pPr algn="ctr"/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«Поисковые системы. Инвертированный индекс (</a:t>
            </a:r>
            <a:r>
              <a:rPr lang="ru-RU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Inverted</a:t>
            </a:r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index</a:t>
            </a:r>
            <a:r>
              <a:rPr lang="ru-RU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). Обработка булевых запросов. Система поиска вакансий»</a:t>
            </a:r>
            <a:endParaRPr lang="en-US" sz="18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975E57-0012-D551-32E4-51A9D3EDABA1}"/>
              </a:ext>
            </a:extLst>
          </p:cNvPr>
          <p:cNvSpPr txBox="1"/>
          <p:nvPr/>
        </p:nvSpPr>
        <p:spPr>
          <a:xfrm>
            <a:off x="7974793" y="4386664"/>
            <a:ext cx="367119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Выполнил студент 2-го курса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группы Б.ПИН.РИС-24.06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Думчев Данила Сергеевич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Проверил: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r"/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Мальков Александр Анатольевич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D3829B1-8F54-FD6C-EBC7-A2396405FF38}"/>
              </a:ext>
            </a:extLst>
          </p:cNvPr>
          <p:cNvSpPr txBox="1"/>
          <p:nvPr/>
        </p:nvSpPr>
        <p:spPr>
          <a:xfrm>
            <a:off x="5421777" y="6017091"/>
            <a:ext cx="13484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Тверь, 2026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477760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D35410-24FC-71C9-BF0C-82D6F42F9F4B}"/>
              </a:ext>
            </a:extLst>
          </p:cNvPr>
          <p:cNvSpPr txBox="1"/>
          <p:nvPr/>
        </p:nvSpPr>
        <p:spPr>
          <a:xfrm>
            <a:off x="4921640" y="2026469"/>
            <a:ext cx="23487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Актуальность</a:t>
            </a:r>
            <a:endParaRPr lang="en-US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86B57BF-0ED5-4619-D3DB-167885CA420A}"/>
              </a:ext>
            </a:extLst>
          </p:cNvPr>
          <p:cNvSpPr txBox="1"/>
          <p:nvPr/>
        </p:nvSpPr>
        <p:spPr>
          <a:xfrm>
            <a:off x="-10860833" y="3723087"/>
            <a:ext cx="108608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ru-RU" alt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Поисковые системы – основной инструмент доступа к информации.</a:t>
            </a:r>
            <a:endParaRPr lang="en-US" alt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B5A78F5-529F-D985-40E8-6D18DDE08A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93551" y="3148379"/>
            <a:ext cx="4582196" cy="4582196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9A1DBDB3-A8E7-DE51-CE74-637A14C3245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56665" y="4494451"/>
            <a:ext cx="927984" cy="92798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50056EDB-C994-1A45-E85F-FAC7089B21F8}"/>
              </a:ext>
            </a:extLst>
          </p:cNvPr>
          <p:cNvSpPr txBox="1"/>
          <p:nvPr/>
        </p:nvSpPr>
        <p:spPr>
          <a:xfrm>
            <a:off x="-9191083" y="2257302"/>
            <a:ext cx="91910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Инвертированный индекс лежит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в </a:t>
            </a:r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основе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altLang="en-US" sz="18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всех </a:t>
            </a:r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современных поисковиков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: Google, </a:t>
            </a:r>
            <a:r>
              <a:rPr lang="ru-RU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Яндекс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, Elasticsearch, </a:t>
            </a:r>
            <a:r>
              <a:rPr lang="en-US" altLang="en-US" sz="18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Solr</a:t>
            </a:r>
            <a:r>
              <a:rPr lang="en-US" altLang="en-US" sz="1800" dirty="0">
                <a:latin typeface="Cascadia Mono" panose="020B0609020000020004" pitchFamily="49" charset="0"/>
                <a:cs typeface="Cascadia Mono" panose="020B0609020000020004" pitchFamily="49" charset="0"/>
              </a:rPr>
              <a:t>, Tantivy 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81650B-401A-E63E-7BD2-075C69F6FD6A}"/>
                  </a:ext>
                </a:extLst>
              </p:cNvPr>
              <p:cNvSpPr txBox="1"/>
              <p:nvPr/>
            </p:nvSpPr>
            <p:spPr>
              <a:xfrm>
                <a:off x="-11085533" y="3128694"/>
                <a:ext cx="1108553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buNone/>
                </a:pPr>
                <a:r>
                  <a:rPr lang="ru-RU" dirty="0">
                    <a:effectLst/>
                    <a:latin typeface="Cascadia Mono" panose="020B0609020000020004" pitchFamily="49" charset="0"/>
                    <a:cs typeface="Cascadia Mono" panose="020B0609020000020004" pitchFamily="49" charset="0"/>
                  </a:rPr>
                  <a:t>Объём неструктурированных данных растёт экспоненциально (Эра зеттабайтов -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b="0" i="1" smtClean="0">
                            <a:effectLst/>
                            <a:latin typeface="Cambria Math" panose="02040503050406030204" pitchFamily="18" charset="0"/>
                            <a:cs typeface="Cascadia Mono" panose="020B0609020000020004" pitchFamily="49" charset="0"/>
                          </a:rPr>
                        </m:ctrlPr>
                      </m:sSupPr>
                      <m:e>
                        <m:r>
                          <a:rPr lang="ru-RU" b="0" i="1" smtClean="0">
                            <a:effectLst/>
                            <a:latin typeface="Cambria Math" panose="02040503050406030204" pitchFamily="18" charset="0"/>
                            <a:cs typeface="Cascadia Mono" panose="020B0609020000020004" pitchFamily="49" charset="0"/>
                          </a:rPr>
                          <m:t>10</m:t>
                        </m:r>
                      </m:e>
                      <m:sup>
                        <m:r>
                          <a:rPr lang="ru-RU" b="0" i="1" smtClean="0">
                            <a:effectLst/>
                            <a:latin typeface="Cambria Math" panose="02040503050406030204" pitchFamily="18" charset="0"/>
                            <a:cs typeface="Cascadia Mono" panose="020B0609020000020004" pitchFamily="49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ru-RU" dirty="0">
                    <a:effectLst/>
                    <a:latin typeface="Cascadia Mono" panose="020B0609020000020004" pitchFamily="49" charset="0"/>
                    <a:cs typeface="Cascadia Mono" panose="020B0609020000020004" pitchFamily="49" charset="0"/>
                  </a:rPr>
                  <a:t>гб)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081650B-401A-E63E-7BD2-075C69F6FD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1085533" y="3128694"/>
                <a:ext cx="11085534" cy="369332"/>
              </a:xfrm>
              <a:prstGeom prst="rect">
                <a:avLst/>
              </a:prstGeom>
              <a:blipFill>
                <a:blip r:embed="rId7"/>
                <a:stretch>
                  <a:fillRect l="-495" t="-8197" r="-1210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EB2A80C8-58F6-E655-50D1-B777CF7E5123}"/>
              </a:ext>
            </a:extLst>
          </p:cNvPr>
          <p:cNvSpPr txBox="1"/>
          <p:nvPr/>
        </p:nvSpPr>
        <p:spPr>
          <a:xfrm>
            <a:off x="-7724275" y="4317480"/>
            <a:ext cx="772427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Булева модель до сих пор используется как быстрый фильтр (</a:t>
            </a:r>
            <a:r>
              <a:rPr lang="ru-RU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candidate</a:t>
            </a:r>
            <a:r>
              <a:rPr lang="ru-RU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ru-RU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generation</a:t>
            </a:r>
            <a:r>
              <a:rPr lang="ru-RU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 даже в нейронных системах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02773E5-0B06-47AF-803C-9C7F97A64926}"/>
              </a:ext>
            </a:extLst>
          </p:cNvPr>
          <p:cNvSpPr txBox="1"/>
          <p:nvPr/>
        </p:nvSpPr>
        <p:spPr>
          <a:xfrm>
            <a:off x="327660" y="6242685"/>
            <a:ext cx="290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4669739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00023 L 0 -0.1544 " pathEditMode="relative" rAng="0" ptsTypes="AA">
                                      <p:cBhvr>
                                        <p:cTn id="10" dur="75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77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750"/>
                            </p:stCondLst>
                            <p:childTnLst>
                              <p:par>
                                <p:cTn id="12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3.125E-6 2.59259E-6 L 0.8095 -0.00278 " pathEditMode="relative" rAng="0" ptsTypes="AA">
                                      <p:cBhvr>
                                        <p:cTn id="13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0469" y="-13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2000"/>
                            </p:stCondLst>
                            <p:childTnLst>
                              <p:par>
                                <p:cTn id="15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70833E-6 -1.85185E-6 L 0.95925 -0.00185 " pathEditMode="relative" rAng="0" ptsTypes="AA">
                                      <p:cBhvr>
                                        <p:cTn id="16" dur="2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7956" y="-9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4.07407E-6 L 0.94453 0.00115 " pathEditMode="relative" rAng="0" ptsTypes="AA">
                                      <p:cBhvr>
                                        <p:cTn id="19" dur="2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7227" y="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500"/>
                            </p:stCondLst>
                            <p:childTnLst>
                              <p:par>
                                <p:cTn id="21" presetID="42" presetClass="path" presetSubtype="0" accel="50000" decel="5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125E-6 -3.7037E-7 L 0.68802 -3.7037E-7 " pathEditMode="relative" rAng="0" ptsTypes="AA">
                                      <p:cBhvr>
                                        <p:cTn id="22" dur="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440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750"/>
                            </p:stCondLst>
                            <p:childTnLst>
                              <p:par>
                                <p:cTn id="24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2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7" grpId="0"/>
      <p:bldP spid="17" grpId="0"/>
      <p:bldP spid="19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0B193CB3-E481-34EE-B152-30458D46D29F}"/>
              </a:ext>
            </a:extLst>
          </p:cNvPr>
          <p:cNvSpPr txBox="1"/>
          <p:nvPr/>
        </p:nvSpPr>
        <p:spPr>
          <a:xfrm>
            <a:off x="665582" y="2008714"/>
            <a:ext cx="1086083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1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Цель:</a:t>
            </a:r>
            <a:r>
              <a:rPr lang="ru-RU" sz="160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изучить теоретические основы инвертированного индекса и алгоритмы обработки булевых запросов в информационно-поисковых системах</a:t>
            </a: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 и разработать приложение, реализующее эти знания</a:t>
            </a:r>
            <a:r>
              <a:rPr lang="ru-RU" sz="160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55B2AE-AF9F-8C80-9D40-466D31DADCE1}"/>
              </a:ext>
            </a:extLst>
          </p:cNvPr>
          <p:cNvSpPr txBox="1"/>
          <p:nvPr/>
        </p:nvSpPr>
        <p:spPr>
          <a:xfrm>
            <a:off x="665581" y="2981833"/>
            <a:ext cx="1086083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sz="1600" b="1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Задачи:</a:t>
            </a:r>
            <a:endParaRPr lang="ru-RU" sz="1600" dirty="0"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Проанализировать архитектуру современных поисковых систем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Изучить структуру данных «инвертированный индекс»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Рассмотреть алгоритмы его построения (BSBI, SPIMI)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Описать алгоритмы обработки булевых запросов и их оптимизации</a:t>
            </a:r>
          </a:p>
          <a:p>
            <a:pPr>
              <a:buFont typeface="+mj-lt"/>
              <a:buAutoNum type="arabicPeriod"/>
            </a:pPr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Провести сравнительный анализ эффективности алгоритмов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9DD54FE-32CE-AE6D-3DB1-3468FDC86BBC}"/>
              </a:ext>
            </a:extLst>
          </p:cNvPr>
          <p:cNvSpPr txBox="1"/>
          <p:nvPr/>
        </p:nvSpPr>
        <p:spPr>
          <a:xfrm>
            <a:off x="4831070" y="762000"/>
            <a:ext cx="25298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Цели и задачи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E84DAC9-4C13-39EB-4778-4819D6FFBE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486775" y="3238500"/>
            <a:ext cx="3743324" cy="37433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F41926-22A6-B903-5959-2DDC56864CC3}"/>
              </a:ext>
            </a:extLst>
          </p:cNvPr>
          <p:cNvSpPr txBox="1"/>
          <p:nvPr/>
        </p:nvSpPr>
        <p:spPr>
          <a:xfrm>
            <a:off x="327660" y="6242685"/>
            <a:ext cx="290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8071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250"/>
                            </p:stCondLst>
                            <p:childTnLst>
                              <p:par>
                                <p:cTn id="18" presetID="2" presetClass="entr" presetSubtype="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1" grpId="0"/>
      <p:bldP spid="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ABA7EC-A104-24A9-3699-54E81403858F}"/>
              </a:ext>
            </a:extLst>
          </p:cNvPr>
          <p:cNvSpPr txBox="1"/>
          <p:nvPr/>
        </p:nvSpPr>
        <p:spPr>
          <a:xfrm>
            <a:off x="3659275" y="270461"/>
            <a:ext cx="48734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Обзор существующих решений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275D37-08FA-58E1-8692-66AA9957A8A5}"/>
              </a:ext>
            </a:extLst>
          </p:cNvPr>
          <p:cNvSpPr txBox="1"/>
          <p:nvPr/>
        </p:nvSpPr>
        <p:spPr>
          <a:xfrm>
            <a:off x="11543056" y="6242685"/>
            <a:ext cx="2904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4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DDA9CD92-75DB-D89C-BD8D-24A77908E3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3180715"/>
              </p:ext>
            </p:extLst>
          </p:nvPr>
        </p:nvGraphicFramePr>
        <p:xfrm>
          <a:off x="751563" y="873849"/>
          <a:ext cx="10688880" cy="539496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1526983">
                  <a:extLst>
                    <a:ext uri="{9D8B030D-6E8A-4147-A177-3AD203B41FA5}">
                      <a16:colId xmlns:a16="http://schemas.microsoft.com/office/drawing/2014/main" val="1154621797"/>
                    </a:ext>
                  </a:extLst>
                </a:gridCol>
                <a:gridCol w="1192955">
                  <a:extLst>
                    <a:ext uri="{9D8B030D-6E8A-4147-A177-3AD203B41FA5}">
                      <a16:colId xmlns:a16="http://schemas.microsoft.com/office/drawing/2014/main" val="3955211358"/>
                    </a:ext>
                  </a:extLst>
                </a:gridCol>
                <a:gridCol w="1405518">
                  <a:extLst>
                    <a:ext uri="{9D8B030D-6E8A-4147-A177-3AD203B41FA5}">
                      <a16:colId xmlns:a16="http://schemas.microsoft.com/office/drawing/2014/main" val="1920600226"/>
                    </a:ext>
                  </a:extLst>
                </a:gridCol>
                <a:gridCol w="1366476">
                  <a:extLst>
                    <a:ext uri="{9D8B030D-6E8A-4147-A177-3AD203B41FA5}">
                      <a16:colId xmlns:a16="http://schemas.microsoft.com/office/drawing/2014/main" val="1118939348"/>
                    </a:ext>
                  </a:extLst>
                </a:gridCol>
                <a:gridCol w="1483602">
                  <a:extLst>
                    <a:ext uri="{9D8B030D-6E8A-4147-A177-3AD203B41FA5}">
                      <a16:colId xmlns:a16="http://schemas.microsoft.com/office/drawing/2014/main" val="3511579874"/>
                    </a:ext>
                  </a:extLst>
                </a:gridCol>
                <a:gridCol w="2186363">
                  <a:extLst>
                    <a:ext uri="{9D8B030D-6E8A-4147-A177-3AD203B41FA5}">
                      <a16:colId xmlns:a16="http://schemas.microsoft.com/office/drawing/2014/main" val="2595195228"/>
                    </a:ext>
                  </a:extLst>
                </a:gridCol>
                <a:gridCol w="1526983">
                  <a:extLst>
                    <a:ext uri="{9D8B030D-6E8A-4147-A177-3AD203B41FA5}">
                      <a16:colId xmlns:a16="http://schemas.microsoft.com/office/drawing/2014/main" val="40224207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Алгоритм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Кол-во проходов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Масштабируемость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Требования к памяти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Время сложности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Преимущества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Недостатки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8399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Наивный </a:t>
                      </a:r>
                      <a:r>
                        <a:rPr lang="en-US" dirty="0"/>
                        <a:t>in-memory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1-10 </a:t>
                      </a:r>
                      <a:r>
                        <a:rPr lang="ru-RU" dirty="0" err="1"/>
                        <a:t>гб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Высокая (ОЗУ)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* 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>
                          <a:effectLst/>
                        </a:rPr>
                        <a:t>Простота реализации, быстро для малого объёма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Не работает с большими данными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14013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Blocked Sort-Based Indexing (BSBI)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Терабайты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Средняя (ОЗУ + Диск)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</a:t>
                      </a:r>
                      <a:r>
                        <a:rPr lang="en-US" dirty="0" err="1"/>
                        <a:t>logN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любым объемом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Два прохода, требуются глобальный словарь терминов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1740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Single-Pass In-Memory Indexing (SPIMI)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Терабайты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+ B </a:t>
                      </a:r>
                      <a:r>
                        <a:rPr lang="en-US" dirty="0" err="1"/>
                        <a:t>logB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Экономия памяти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Merge</a:t>
                      </a:r>
                      <a:r>
                        <a:rPr lang="ru-RU" dirty="0"/>
                        <a:t> блоков дорогой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66626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Distributed Indexing (MapReduce-based)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Петабайты, кластеры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Низкая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O(N / P </a:t>
                      </a:r>
                      <a:r>
                        <a:rPr lang="en-US" dirty="0" err="1"/>
                        <a:t>logN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Масштаб для веб-уровня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Сложные настройки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4717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5753295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9B589E6-86F6-01EF-A6E6-F57CCDD0557A}"/>
              </a:ext>
            </a:extLst>
          </p:cNvPr>
          <p:cNvSpPr txBox="1"/>
          <p:nvPr/>
        </p:nvSpPr>
        <p:spPr>
          <a:xfrm>
            <a:off x="2756785" y="701458"/>
            <a:ext cx="667843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Code" panose="020B0609020000020004" pitchFamily="49" charset="0"/>
                <a:cs typeface="Cascadia Code" panose="020B0609020000020004" pitchFamily="49" charset="0"/>
              </a:rPr>
              <a:t>Архитектура работы поисковой системы</a:t>
            </a:r>
            <a:endParaRPr lang="en-US" sz="2400" b="1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C36B31C-E8E6-E6D7-1E5D-ECFDFC12A4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0605" y="1493731"/>
            <a:ext cx="1400825" cy="1400825"/>
          </a:xfrm>
          <a:prstGeom prst="rect">
            <a:avLst/>
          </a:prstGeom>
        </p:spPr>
      </p:pic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4ECB8163-6D21-7410-BA43-BEB95F4D6A68}"/>
              </a:ext>
            </a:extLst>
          </p:cNvPr>
          <p:cNvSpPr/>
          <p:nvPr/>
        </p:nvSpPr>
        <p:spPr>
          <a:xfrm>
            <a:off x="2685529" y="1841328"/>
            <a:ext cx="2450143" cy="638826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Поисковой Движок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1777FED-1A61-3EB1-EDF4-A4D60CA4823A}"/>
              </a:ext>
            </a:extLst>
          </p:cNvPr>
          <p:cNvSpPr/>
          <p:nvPr/>
        </p:nvSpPr>
        <p:spPr>
          <a:xfrm>
            <a:off x="2868460" y="3854894"/>
            <a:ext cx="2091847" cy="951977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Поисковой Движок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DC243CCB-F142-C436-16F3-7C4B4A75D691}"/>
              </a:ext>
            </a:extLst>
          </p:cNvPr>
          <p:cNvSpPr/>
          <p:nvPr/>
        </p:nvSpPr>
        <p:spPr>
          <a:xfrm>
            <a:off x="9216547" y="1841326"/>
            <a:ext cx="2091847" cy="638827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Индекс файлов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831404AA-F0E3-F840-7BEC-9E74B4B5AFF1}"/>
              </a:ext>
            </a:extLst>
          </p:cNvPr>
          <p:cNvSpPr/>
          <p:nvPr/>
        </p:nvSpPr>
        <p:spPr>
          <a:xfrm>
            <a:off x="5958214" y="1841328"/>
            <a:ext cx="2283912" cy="638825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Запрос разобран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1" name="Прямоугольник: скругленные углы 10">
            <a:extLst>
              <a:ext uri="{FF2B5EF4-FFF2-40B4-BE49-F238E27FC236}">
                <a16:creationId xmlns:a16="http://schemas.microsoft.com/office/drawing/2014/main" id="{613E3425-54A4-4AE9-0B89-1F3992EA15DD}"/>
              </a:ext>
            </a:extLst>
          </p:cNvPr>
          <p:cNvSpPr/>
          <p:nvPr/>
        </p:nvSpPr>
        <p:spPr>
          <a:xfrm>
            <a:off x="5745271" y="3861147"/>
            <a:ext cx="2091847" cy="951977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Поисковой Движок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F9B81B93-F165-2A31-C421-00B7681CD24F}"/>
              </a:ext>
            </a:extLst>
          </p:cNvPr>
          <p:cNvSpPr/>
          <p:nvPr/>
        </p:nvSpPr>
        <p:spPr>
          <a:xfrm>
            <a:off x="9211587" y="4215016"/>
            <a:ext cx="2091847" cy="638829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Веб-</a:t>
            </a:r>
            <a:r>
              <a:rPr lang="ru-RU" dirty="0" err="1">
                <a:latin typeface="Cascadia Code" panose="020B0609020000020004" pitchFamily="49" charset="0"/>
                <a:cs typeface="Cascadia Code" panose="020B0609020000020004" pitchFamily="49" charset="0"/>
              </a:rPr>
              <a:t>краулер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6992D8AB-45CC-CB28-A4DC-E28D5BECCB66}"/>
              </a:ext>
            </a:extLst>
          </p:cNvPr>
          <p:cNvSpPr/>
          <p:nvPr/>
        </p:nvSpPr>
        <p:spPr>
          <a:xfrm>
            <a:off x="9128864" y="3012514"/>
            <a:ext cx="2257294" cy="638828"/>
          </a:xfrm>
          <a:prstGeom prst="roundRect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Индексирование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A90371A-2B53-8B90-F0E7-345B13D3C68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01342" y="5367411"/>
            <a:ext cx="1312335" cy="131233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5D77735-8224-B3DB-44E3-9A7333C5B801}"/>
              </a:ext>
            </a:extLst>
          </p:cNvPr>
          <p:cNvSpPr txBox="1"/>
          <p:nvPr/>
        </p:nvSpPr>
        <p:spPr>
          <a:xfrm>
            <a:off x="9943106" y="5906358"/>
            <a:ext cx="5886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Веб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cxnSp>
        <p:nvCxnSpPr>
          <p:cNvPr id="20" name="Прямая со стрелкой 19">
            <a:extLst>
              <a:ext uri="{FF2B5EF4-FFF2-40B4-BE49-F238E27FC236}">
                <a16:creationId xmlns:a16="http://schemas.microsoft.com/office/drawing/2014/main" id="{8F5354E6-AA12-EDD9-6B2D-D35A094EA0B0}"/>
              </a:ext>
            </a:extLst>
          </p:cNvPr>
          <p:cNvCxnSpPr>
            <a:cxnSpLocks/>
          </p:cNvCxnSpPr>
          <p:nvPr/>
        </p:nvCxnSpPr>
        <p:spPr>
          <a:xfrm>
            <a:off x="1891430" y="2160740"/>
            <a:ext cx="794099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37F309B-B430-47FD-0E8A-4FF158112200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5135672" y="2160741"/>
            <a:ext cx="822542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Прямая со стрелкой 22">
            <a:extLst>
              <a:ext uri="{FF2B5EF4-FFF2-40B4-BE49-F238E27FC236}">
                <a16:creationId xmlns:a16="http://schemas.microsoft.com/office/drawing/2014/main" id="{5E7AA2EA-428D-5236-9F0A-4B270DE2400E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8242126" y="2160740"/>
            <a:ext cx="974421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B5A7E4AB-4C6F-DBB0-5061-DF77EDB3D159}"/>
              </a:ext>
            </a:extLst>
          </p:cNvPr>
          <p:cNvCxnSpPr>
            <a:cxnSpLocks/>
            <a:endCxn id="12" idx="2"/>
          </p:cNvCxnSpPr>
          <p:nvPr/>
        </p:nvCxnSpPr>
        <p:spPr>
          <a:xfrm flipV="1">
            <a:off x="10257511" y="4853845"/>
            <a:ext cx="0" cy="74528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A5D46417-7F46-23C8-FD1F-5BC29F88E49F}"/>
              </a:ext>
            </a:extLst>
          </p:cNvPr>
          <p:cNvCxnSpPr>
            <a:cxnSpLocks/>
            <a:stCxn id="12" idx="0"/>
            <a:endCxn id="13" idx="2"/>
          </p:cNvCxnSpPr>
          <p:nvPr/>
        </p:nvCxnSpPr>
        <p:spPr>
          <a:xfrm flipV="1">
            <a:off x="10257511" y="3651342"/>
            <a:ext cx="0" cy="56367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5630AAD2-35F5-C848-D6E0-043DF6B219A3}"/>
              </a:ext>
            </a:extLst>
          </p:cNvPr>
          <p:cNvCxnSpPr>
            <a:cxnSpLocks/>
            <a:stCxn id="13" idx="0"/>
            <a:endCxn id="9" idx="2"/>
          </p:cNvCxnSpPr>
          <p:nvPr/>
        </p:nvCxnSpPr>
        <p:spPr>
          <a:xfrm flipV="1">
            <a:off x="10257511" y="2480153"/>
            <a:ext cx="4960" cy="53236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Прямая соединительная линия 60">
            <a:extLst>
              <a:ext uri="{FF2B5EF4-FFF2-40B4-BE49-F238E27FC236}">
                <a16:creationId xmlns:a16="http://schemas.microsoft.com/office/drawing/2014/main" id="{C2B62BDA-8EB7-9487-6C2D-F6B678626B7E}"/>
              </a:ext>
            </a:extLst>
          </p:cNvPr>
          <p:cNvCxnSpPr/>
          <p:nvPr/>
        </p:nvCxnSpPr>
        <p:spPr>
          <a:xfrm flipH="1">
            <a:off x="8592855" y="2417523"/>
            <a:ext cx="61873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C5ECA79C-D69C-7360-9651-7D9CFCB94C91}"/>
              </a:ext>
            </a:extLst>
          </p:cNvPr>
          <p:cNvCxnSpPr>
            <a:cxnSpLocks/>
          </p:cNvCxnSpPr>
          <p:nvPr/>
        </p:nvCxnSpPr>
        <p:spPr>
          <a:xfrm flipV="1">
            <a:off x="8592855" y="2417523"/>
            <a:ext cx="0" cy="19196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Прямая со стрелкой 65">
            <a:extLst>
              <a:ext uri="{FF2B5EF4-FFF2-40B4-BE49-F238E27FC236}">
                <a16:creationId xmlns:a16="http://schemas.microsoft.com/office/drawing/2014/main" id="{C32CE6F1-E39D-FA5B-6C07-6D1D0BD9BAF8}"/>
              </a:ext>
            </a:extLst>
          </p:cNvPr>
          <p:cNvCxnSpPr>
            <a:cxnSpLocks/>
            <a:endCxn id="11" idx="3"/>
          </p:cNvCxnSpPr>
          <p:nvPr/>
        </p:nvCxnSpPr>
        <p:spPr>
          <a:xfrm flipH="1">
            <a:off x="7837118" y="4337135"/>
            <a:ext cx="755736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Прямая со стрелкой 68">
            <a:extLst>
              <a:ext uri="{FF2B5EF4-FFF2-40B4-BE49-F238E27FC236}">
                <a16:creationId xmlns:a16="http://schemas.microsoft.com/office/drawing/2014/main" id="{10D4D646-045B-FB03-6243-C26F3D7290E2}"/>
              </a:ext>
            </a:extLst>
          </p:cNvPr>
          <p:cNvCxnSpPr>
            <a:cxnSpLocks/>
            <a:stCxn id="11" idx="1"/>
            <a:endCxn id="8" idx="3"/>
          </p:cNvCxnSpPr>
          <p:nvPr/>
        </p:nvCxnSpPr>
        <p:spPr>
          <a:xfrm flipH="1" flipV="1">
            <a:off x="4960307" y="4330883"/>
            <a:ext cx="784964" cy="625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B77A18A7-8262-90E4-C31F-14740D110017}"/>
              </a:ext>
            </a:extLst>
          </p:cNvPr>
          <p:cNvCxnSpPr>
            <a:stCxn id="8" idx="1"/>
            <a:endCxn id="5" idx="2"/>
          </p:cNvCxnSpPr>
          <p:nvPr/>
        </p:nvCxnSpPr>
        <p:spPr>
          <a:xfrm rot="10800000">
            <a:off x="1191018" y="2894557"/>
            <a:ext cx="1677442" cy="1436327"/>
          </a:xfrm>
          <a:prstGeom prst="bentConnector2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244D4590-06B9-881F-A0DB-DC88DDD781E0}"/>
              </a:ext>
            </a:extLst>
          </p:cNvPr>
          <p:cNvSpPr txBox="1"/>
          <p:nvPr/>
        </p:nvSpPr>
        <p:spPr>
          <a:xfrm>
            <a:off x="1716066" y="1543835"/>
            <a:ext cx="992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Code" panose="020B0609020000020004" pitchFamily="49" charset="0"/>
                <a:cs typeface="Cascadia Code" panose="020B0609020000020004" pitchFamily="49" charset="0"/>
              </a:rPr>
              <a:t>Запрос</a:t>
            </a:r>
            <a:endParaRPr 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77712620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E3F302-3FF0-676E-49D6-5472859BEA7B}"/>
              </a:ext>
            </a:extLst>
          </p:cNvPr>
          <p:cNvSpPr txBox="1"/>
          <p:nvPr/>
        </p:nvSpPr>
        <p:spPr>
          <a:xfrm>
            <a:off x="3118262" y="718457"/>
            <a:ext cx="59554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Технологии для реализации (</a:t>
            </a:r>
            <a:r>
              <a:rPr lang="ru-RU" sz="2400" b="1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стэк</a:t>
            </a:r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318626-1F37-49A6-8648-021EDE563AFB}"/>
              </a:ext>
            </a:extLst>
          </p:cNvPr>
          <p:cNvSpPr txBox="1"/>
          <p:nvPr/>
        </p:nvSpPr>
        <p:spPr>
          <a:xfrm>
            <a:off x="4667692" y="4046195"/>
            <a:ext cx="2856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/>
              <a:t>*</a:t>
            </a:r>
            <a:r>
              <a:rPr lang="en-US" dirty="0"/>
              <a:t>TODO: </a:t>
            </a:r>
            <a:r>
              <a:rPr lang="ru-RU" dirty="0"/>
              <a:t>дополнить список*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19098A-19EE-7803-5A61-A8F5986EB586}"/>
              </a:ext>
            </a:extLst>
          </p:cNvPr>
          <p:cNvSpPr txBox="1"/>
          <p:nvPr/>
        </p:nvSpPr>
        <p:spPr>
          <a:xfrm>
            <a:off x="4400728" y="1931437"/>
            <a:ext cx="3470565" cy="8803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b="1" dirty="0"/>
              <a:t>Язык программирования</a:t>
            </a:r>
            <a:r>
              <a:rPr lang="ru-RU" dirty="0"/>
              <a:t>: </a:t>
            </a:r>
            <a:r>
              <a:rPr lang="en-US" dirty="0"/>
              <a:t>C#</a:t>
            </a:r>
            <a:endParaRPr lang="ru-RU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b="1" dirty="0"/>
              <a:t>Графическая платформа</a:t>
            </a:r>
            <a:r>
              <a:rPr lang="ru-RU" dirty="0"/>
              <a:t>: </a:t>
            </a:r>
            <a:r>
              <a:rPr lang="en-US" dirty="0"/>
              <a:t>WPF</a:t>
            </a:r>
          </a:p>
        </p:txBody>
      </p:sp>
    </p:spTree>
    <p:extLst>
      <p:ext uri="{BB962C8B-B14F-4D97-AF65-F5344CB8AC3E}">
        <p14:creationId xmlns:p14="http://schemas.microsoft.com/office/powerpoint/2010/main" val="829228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EA45CF-938C-19FE-746B-00340EC79D97}"/>
              </a:ext>
            </a:extLst>
          </p:cNvPr>
          <p:cNvSpPr txBox="1"/>
          <p:nvPr/>
        </p:nvSpPr>
        <p:spPr>
          <a:xfrm>
            <a:off x="2139895" y="2551837"/>
            <a:ext cx="791221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*TODO: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 АРХИТЕКТУРА САМОГО ПРОЕКТА, В ПРОСТОМ И СЛОЖНОМ ВИДЕ(ТИПО КЛАССЫ)*</a:t>
            </a:r>
            <a:endParaRPr lang="en-US" sz="3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74064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62B1659-159E-02F5-7A78-EB12D96054FD}"/>
              </a:ext>
            </a:extLst>
          </p:cNvPr>
          <p:cNvSpPr txBox="1"/>
          <p:nvPr/>
        </p:nvSpPr>
        <p:spPr>
          <a:xfrm>
            <a:off x="2977923" y="2551837"/>
            <a:ext cx="623615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TODO: 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БЛОК РЕАЛИЗАЦИИ ПРОЕКТА И РАЗБОРА АЛГОВ И СТРУКТУР*</a:t>
            </a:r>
            <a:endParaRPr lang="en-US" sz="3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612579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AE36C17-ED7D-8843-06AF-DB95CD506FC5}"/>
              </a:ext>
            </a:extLst>
          </p:cNvPr>
          <p:cNvSpPr txBox="1"/>
          <p:nvPr/>
        </p:nvSpPr>
        <p:spPr>
          <a:xfrm>
            <a:off x="5191746" y="571500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0848A-89E4-8A5C-6FA3-295407422B67}"/>
              </a:ext>
            </a:extLst>
          </p:cNvPr>
          <p:cNvSpPr txBox="1"/>
          <p:nvPr/>
        </p:nvSpPr>
        <p:spPr>
          <a:xfrm>
            <a:off x="4217670" y="1143000"/>
            <a:ext cx="382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Наивный 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in-memory 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ru-RU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50F850-D945-D9C0-4DF3-F18469CB8C20}"/>
              </a:ext>
            </a:extLst>
          </p:cNvPr>
          <p:cNvSpPr txBox="1"/>
          <p:nvPr/>
        </p:nvSpPr>
        <p:spPr>
          <a:xfrm>
            <a:off x="610658" y="1897380"/>
            <a:ext cx="5343896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Суть: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 берём все документы, читаем их по одному, и для каждого слова запоминаем «в каких документах оно встретилось».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E66148EE-7E0C-5DA0-6FCA-CE07867BA2E3}"/>
              </a:ext>
            </a:extLst>
          </p:cNvPr>
          <p:cNvSpPr/>
          <p:nvPr/>
        </p:nvSpPr>
        <p:spPr>
          <a:xfrm>
            <a:off x="6237449" y="1897380"/>
            <a:ext cx="5488274" cy="4389120"/>
          </a:xfrm>
          <a:prstGeom prst="roundRect">
            <a:avLst>
              <a:gd name="adj" fmla="val 10118"/>
            </a:avLst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ВХОД: коллекция документов D = {d₁, d₂, ..., dₙ}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ВЫХОД: инвертированный индекс I (словарь: терм → список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)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НАЧАЛО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1. Создать пустой словарь I = {}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2. ДЛЯ КАЖДОГО документа dᵢ ИЗ коллекции D: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2.1. Получить текст документа dᵢ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2.2. Выполнить токенизацию текста: - привести к нижнему регистру - разбить на слова по разделителям (пробелы, знаки препинания) - удалить стоп-слова (и, на, в,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the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, a, ...) - отфильтровать слова короче 3 символов → получить множество термов T = {t₁, t₂, ..., tₖ}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 2.3. ДЛЯ КАЖДОГО терма tⱼ ИЗ T: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     2.3.1. ЕСЛИ tⱼ НЕТ в словаре I: Создать новую запись: I[tⱼ] = пустой список []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     2.3.2. ЕСЛИ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(dᵢ) НЕТ в списке I[tⱼ]: Добавить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(dᵢ) в конец списка I[tⱼ] КОНЕЦ ЕСЛИ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 ЕСЛИ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 ЦИКЛА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 ЦИКЛА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3. ДЛЯ КАЖДОГО терма t В словаре I: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    3.1. Отсортировать список I[t] по возрастанию </a:t>
            </a:r>
            <a:r>
              <a:rPr lang="ru-RU" sz="1200" dirty="0" err="1">
                <a:solidFill>
                  <a:schemeClr val="tx1"/>
                </a:solidFill>
                <a:cs typeface="Cascadia Code" panose="020B0609020000020004" pitchFamily="49" charset="0"/>
              </a:rPr>
              <a:t>docID</a:t>
            </a:r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КОНЕЦ ЦИКЛА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    4. Вернуть I </a:t>
            </a:r>
          </a:p>
          <a:p>
            <a:r>
              <a:rPr lang="ru-RU" sz="1200" dirty="0">
                <a:solidFill>
                  <a:schemeClr val="tx1"/>
                </a:solidFill>
                <a:cs typeface="Cascadia Code" panose="020B0609020000020004" pitchFamily="49" charset="0"/>
              </a:rPr>
              <a:t>КОНЕЦ</a:t>
            </a:r>
            <a:endParaRPr lang="en-US" sz="1200" dirty="0">
              <a:solidFill>
                <a:schemeClr val="tx1"/>
              </a:solidFill>
              <a:cs typeface="Cascadia Code" panose="020B06090200000200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08855D-CB13-3AEF-B901-A5F6519F0DCA}"/>
              </a:ext>
            </a:extLst>
          </p:cNvPr>
          <p:cNvSpPr txBox="1"/>
          <p:nvPr/>
        </p:nvSpPr>
        <p:spPr>
          <a:xfrm>
            <a:off x="610658" y="2901417"/>
            <a:ext cx="5343894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Работа: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Берём документ 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№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1, токенизируем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Каждое слово приводим к нижнему регистру, убираем мусор (знаки препинания, короткие слова)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Для каждого слова смотрим: есть ли оно уже в нашем словаре?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Нет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 → создаём новую запись: слово → [doc1]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Да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 → добавляем номер документа в список: слово → [doc1, doc5]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Повторяем для всех документов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В конце сортируем списки документов по номерам</a:t>
            </a: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1E5812F-DA27-0869-AA82-3491D14BE9B8}"/>
              </a:ext>
            </a:extLst>
          </p:cNvPr>
          <p:cNvSpPr/>
          <p:nvPr/>
        </p:nvSpPr>
        <p:spPr>
          <a:xfrm>
            <a:off x="9124749" y="644893"/>
            <a:ext cx="3067251" cy="39463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Равнобедренный треугольник 9">
            <a:extLst>
              <a:ext uri="{FF2B5EF4-FFF2-40B4-BE49-F238E27FC236}">
                <a16:creationId xmlns:a16="http://schemas.microsoft.com/office/drawing/2014/main" id="{9EA3C981-C548-F0FF-895F-2466B9B85675}"/>
              </a:ext>
            </a:extLst>
          </p:cNvPr>
          <p:cNvSpPr/>
          <p:nvPr/>
        </p:nvSpPr>
        <p:spPr>
          <a:xfrm rot="5400000">
            <a:off x="9013105" y="746915"/>
            <a:ext cx="394636" cy="19059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566A83-CCBC-C91B-6301-0C73A3418BCA}"/>
              </a:ext>
            </a:extLst>
          </p:cNvPr>
          <p:cNvSpPr txBox="1"/>
          <p:nvPr/>
        </p:nvSpPr>
        <p:spPr>
          <a:xfrm>
            <a:off x="9290329" y="696744"/>
            <a:ext cx="28938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solidFill>
                  <a:schemeClr val="bg1"/>
                </a:solidFill>
              </a:rPr>
              <a:t>Токенизация – разбиение на слова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709472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6F325D-6A8B-EEC2-D5FA-C18438B05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0197069-F889-CA4B-22B2-0EB28A9F5C64}"/>
              </a:ext>
            </a:extLst>
          </p:cNvPr>
          <p:cNvSpPr txBox="1"/>
          <p:nvPr/>
        </p:nvSpPr>
        <p:spPr>
          <a:xfrm>
            <a:off x="5191746" y="571500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2BD72A-38B5-E01E-4EC0-95C9FC10D119}"/>
              </a:ext>
            </a:extLst>
          </p:cNvPr>
          <p:cNvSpPr txBox="1"/>
          <p:nvPr/>
        </p:nvSpPr>
        <p:spPr>
          <a:xfrm>
            <a:off x="4217670" y="1143000"/>
            <a:ext cx="3820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Наивный 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in-memory 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</a:t>
            </a:r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endParaRPr lang="ru-RU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C5937D-B59E-661A-2779-54C0E9E3CD0E}"/>
              </a:ext>
            </a:extLst>
          </p:cNvPr>
          <p:cNvSpPr txBox="1"/>
          <p:nvPr/>
        </p:nvSpPr>
        <p:spPr>
          <a:xfrm>
            <a:off x="3711887" y="1996732"/>
            <a:ext cx="476822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Документ 1: </a:t>
            </a:r>
          </a:p>
          <a:p>
            <a:pPr algn="ctr"/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“</a:t>
            </a:r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кошка сидит на ковре</a:t>
            </a:r>
            <a:r>
              <a:rPr lang="en-US" dirty="0">
                <a:latin typeface="Cascadia Mono" panose="020B0609020000020004" pitchFamily="49" charset="0"/>
                <a:cs typeface="Cascadia Mono" panose="020B0609020000020004" pitchFamily="49" charset="0"/>
              </a:rPr>
              <a:t>”</a:t>
            </a:r>
            <a:endParaRPr lang="ru-RU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A8775A16-340E-DDAD-026A-98C4BB44BB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3272197"/>
              </p:ext>
            </p:extLst>
          </p:nvPr>
        </p:nvGraphicFramePr>
        <p:xfrm>
          <a:off x="1183905" y="3473258"/>
          <a:ext cx="2749735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</a:tbl>
          </a:graphicData>
        </a:graphic>
      </p:graphicFrame>
      <p:graphicFrame>
        <p:nvGraphicFramePr>
          <p:cNvPr id="16" name="Таблица 15">
            <a:extLst>
              <a:ext uri="{FF2B5EF4-FFF2-40B4-BE49-F238E27FC236}">
                <a16:creationId xmlns:a16="http://schemas.microsoft.com/office/drawing/2014/main" id="{CD3C4A86-EB2A-7FAF-17E1-4E970F945A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25930"/>
              </p:ext>
            </p:extLst>
          </p:nvPr>
        </p:nvGraphicFramePr>
        <p:xfrm>
          <a:off x="4752940" y="3473258"/>
          <a:ext cx="2749735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</a:tbl>
          </a:graphicData>
        </a:graphic>
      </p:graphicFrame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47334574-0EB3-0632-C8BA-0803F76DDA24}"/>
              </a:ext>
            </a:extLst>
          </p:cNvPr>
          <p:cNvCxnSpPr>
            <a:cxnSpLocks/>
          </p:cNvCxnSpPr>
          <p:nvPr/>
        </p:nvCxnSpPr>
        <p:spPr>
          <a:xfrm flipH="1">
            <a:off x="2313432" y="2643063"/>
            <a:ext cx="2715768" cy="74167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Таблица 20">
            <a:extLst>
              <a:ext uri="{FF2B5EF4-FFF2-40B4-BE49-F238E27FC236}">
                <a16:creationId xmlns:a16="http://schemas.microsoft.com/office/drawing/2014/main" id="{A3BC32EA-36DD-D685-D626-49E9E73AE3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129228"/>
              </p:ext>
            </p:extLst>
          </p:nvPr>
        </p:nvGraphicFramePr>
        <p:xfrm>
          <a:off x="8321975" y="3473258"/>
          <a:ext cx="274973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ковре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</a:tbl>
          </a:graphicData>
        </a:graphic>
      </p:graphicFrame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02C44F08-3E2D-A53B-867B-28F8272599A3}"/>
              </a:ext>
            </a:extLst>
          </p:cNvPr>
          <p:cNvCxnSpPr>
            <a:cxnSpLocks/>
          </p:cNvCxnSpPr>
          <p:nvPr/>
        </p:nvCxnSpPr>
        <p:spPr>
          <a:xfrm>
            <a:off x="5949696" y="2687321"/>
            <a:ext cx="0" cy="69742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93B459F3-AEE3-13D8-F573-55631B9CC7F3}"/>
              </a:ext>
            </a:extLst>
          </p:cNvPr>
          <p:cNvCxnSpPr>
            <a:cxnSpLocks/>
          </p:cNvCxnSpPr>
          <p:nvPr/>
        </p:nvCxnSpPr>
        <p:spPr>
          <a:xfrm>
            <a:off x="7114032" y="2643063"/>
            <a:ext cx="2103120" cy="676209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 стрелкой 27">
            <a:extLst>
              <a:ext uri="{FF2B5EF4-FFF2-40B4-BE49-F238E27FC236}">
                <a16:creationId xmlns:a16="http://schemas.microsoft.com/office/drawing/2014/main" id="{3937D571-5986-831B-EA61-DF46EBACE076}"/>
              </a:ext>
            </a:extLst>
          </p:cNvPr>
          <p:cNvCxnSpPr>
            <a:cxnSpLocks/>
          </p:cNvCxnSpPr>
          <p:nvPr/>
        </p:nvCxnSpPr>
        <p:spPr>
          <a:xfrm>
            <a:off x="4123944" y="3844098"/>
            <a:ext cx="44805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Прямая со стрелкой 30">
            <a:extLst>
              <a:ext uri="{FF2B5EF4-FFF2-40B4-BE49-F238E27FC236}">
                <a16:creationId xmlns:a16="http://schemas.microsoft.com/office/drawing/2014/main" id="{B23A5712-DC8D-7225-B163-780FEF941D14}"/>
              </a:ext>
            </a:extLst>
          </p:cNvPr>
          <p:cNvCxnSpPr>
            <a:cxnSpLocks/>
          </p:cNvCxnSpPr>
          <p:nvPr/>
        </p:nvCxnSpPr>
        <p:spPr>
          <a:xfrm>
            <a:off x="7717536" y="3844098"/>
            <a:ext cx="448056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0360B160-3B05-1434-EEA9-E3514E21F614}"/>
              </a:ext>
            </a:extLst>
          </p:cNvPr>
          <p:cNvSpPr txBox="1"/>
          <p:nvPr/>
        </p:nvSpPr>
        <p:spPr>
          <a:xfrm>
            <a:off x="3985660" y="3473258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+сидит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F217D52-CD47-DD6B-0435-C5A58D7E2AFC}"/>
              </a:ext>
            </a:extLst>
          </p:cNvPr>
          <p:cNvSpPr txBox="1"/>
          <p:nvPr/>
        </p:nvSpPr>
        <p:spPr>
          <a:xfrm>
            <a:off x="7546680" y="3528122"/>
            <a:ext cx="7232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200" dirty="0">
                <a:latin typeface="Cascadia Mono" panose="020B0609020000020004" pitchFamily="49" charset="0"/>
                <a:cs typeface="Cascadia Mono" panose="020B0609020000020004" pitchFamily="49" charset="0"/>
              </a:rPr>
              <a:t>+ковре</a:t>
            </a:r>
            <a:endParaRPr lang="en-US" sz="12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90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75F8B-3D4F-A67C-1164-671489C58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1DC88C-EBFB-3E09-4509-68206462D10A}"/>
              </a:ext>
            </a:extLst>
          </p:cNvPr>
          <p:cNvSpPr txBox="1"/>
          <p:nvPr/>
        </p:nvSpPr>
        <p:spPr>
          <a:xfrm>
            <a:off x="5191746" y="571500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2D9BF8-86A2-3995-828C-7D6C275FF19A}"/>
              </a:ext>
            </a:extLst>
          </p:cNvPr>
          <p:cNvSpPr txBox="1"/>
          <p:nvPr/>
        </p:nvSpPr>
        <p:spPr>
          <a:xfrm>
            <a:off x="1088860" y="1143000"/>
            <a:ext cx="10014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BSBI — Blocked Sort-Based Indexing (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блочное индексирование с сортировкой)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4F6B00-7497-BDCF-F4EC-A117CDAB3194}"/>
              </a:ext>
            </a:extLst>
          </p:cNvPr>
          <p:cNvSpPr txBox="1"/>
          <p:nvPr/>
        </p:nvSpPr>
        <p:spPr>
          <a:xfrm>
            <a:off x="610658" y="1897380"/>
            <a:ext cx="53438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Суть: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 когда данных слишком много для оперативки, мы делим работу на куски (блоки), обрабатываем каждый кусок отдельно, записываем на диск, а потом сливаем всё вместе.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2479CFDD-C79C-BD5F-9E97-3B57463CA889}"/>
              </a:ext>
            </a:extLst>
          </p:cNvPr>
          <p:cNvSpPr/>
          <p:nvPr/>
        </p:nvSpPr>
        <p:spPr>
          <a:xfrm>
            <a:off x="6237449" y="1622167"/>
            <a:ext cx="5488274" cy="5048140"/>
          </a:xfrm>
          <a:prstGeom prst="roundRect">
            <a:avLst>
              <a:gd name="adj" fmla="val 9165"/>
            </a:avLst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050" dirty="0">
                <a:solidFill>
                  <a:schemeClr val="tx1"/>
                </a:solidFill>
              </a:rPr>
              <a:t>ВХОД:  коллекция документов </a:t>
            </a:r>
            <a:r>
              <a:rPr lang="en-US" sz="1050" dirty="0">
                <a:solidFill>
                  <a:schemeClr val="tx1"/>
                </a:solidFill>
              </a:rPr>
              <a:t>D = {d₁, d₂, ..., dₙ}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</a:t>
            </a:r>
            <a:r>
              <a:rPr lang="ru-RU" sz="1050" dirty="0">
                <a:solidFill>
                  <a:schemeClr val="tx1"/>
                </a:solidFill>
              </a:rPr>
              <a:t>максимальный размер блока в памяти: </a:t>
            </a:r>
            <a:r>
              <a:rPr lang="en-US" sz="1050" dirty="0">
                <a:solidFill>
                  <a:schemeClr val="tx1"/>
                </a:solidFill>
              </a:rPr>
              <a:t>BLOCK_SIZE</a:t>
            </a:r>
          </a:p>
          <a:p>
            <a:r>
              <a:rPr lang="ru-RU" sz="1050" dirty="0">
                <a:solidFill>
                  <a:schemeClr val="tx1"/>
                </a:solidFill>
              </a:rPr>
              <a:t>ВЫХОД: финальный инвертированный индекс </a:t>
            </a:r>
            <a:r>
              <a:rPr lang="en-US" sz="1050" dirty="0">
                <a:solidFill>
                  <a:schemeClr val="tx1"/>
                </a:solidFill>
              </a:rPr>
              <a:t>I </a:t>
            </a:r>
            <a:r>
              <a:rPr lang="ru-RU" sz="1050" dirty="0">
                <a:solidFill>
                  <a:schemeClr val="tx1"/>
                </a:solidFill>
              </a:rPr>
              <a:t>на диске</a:t>
            </a:r>
          </a:p>
          <a:p>
            <a:endParaRPr lang="ru-RU" sz="1050" dirty="0">
              <a:solidFill>
                <a:schemeClr val="tx1"/>
              </a:solidFill>
            </a:endParaRPr>
          </a:p>
          <a:p>
            <a:r>
              <a:rPr lang="ru-RU" sz="1050" dirty="0">
                <a:solidFill>
                  <a:schemeClr val="tx1"/>
                </a:solidFill>
              </a:rPr>
              <a:t>НАЧАЛО</a:t>
            </a:r>
          </a:p>
          <a:p>
            <a:r>
              <a:rPr lang="ru-RU" sz="1050" dirty="0">
                <a:solidFill>
                  <a:schemeClr val="tx1"/>
                </a:solidFill>
              </a:rPr>
              <a:t>    1.  Создать пустой список блочных файлов: 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 = []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2.  </a:t>
            </a:r>
            <a:r>
              <a:rPr lang="ru-RU" sz="1050" dirty="0">
                <a:solidFill>
                  <a:schemeClr val="tx1"/>
                </a:solidFill>
              </a:rPr>
              <a:t>Создать пустой текущий блок: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 = []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3.  </a:t>
            </a:r>
            <a:r>
              <a:rPr lang="ru-RU" sz="1050" dirty="0">
                <a:solidFill>
                  <a:schemeClr val="tx1"/>
                </a:solidFill>
              </a:rPr>
              <a:t>Установить счётчик размера: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= 0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4.  </a:t>
            </a:r>
            <a:r>
              <a:rPr lang="ru-RU" sz="1050" dirty="0">
                <a:solidFill>
                  <a:schemeClr val="tx1"/>
                </a:solidFill>
              </a:rPr>
              <a:t>ДЛЯ КАЖДОГО документа </a:t>
            </a:r>
            <a:r>
              <a:rPr lang="en-US" sz="1050" dirty="0">
                <a:solidFill>
                  <a:schemeClr val="tx1"/>
                </a:solidFill>
              </a:rPr>
              <a:t>dᵢ </a:t>
            </a:r>
            <a:r>
              <a:rPr lang="ru-RU" sz="1050" dirty="0">
                <a:solidFill>
                  <a:schemeClr val="tx1"/>
                </a:solidFill>
              </a:rPr>
              <a:t>ИЗ коллекции </a:t>
            </a:r>
            <a:r>
              <a:rPr lang="en-US" sz="1050" dirty="0">
                <a:solidFill>
                  <a:schemeClr val="tx1"/>
                </a:solidFill>
              </a:rPr>
              <a:t>D: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4.1.  </a:t>
            </a:r>
            <a:r>
              <a:rPr lang="ru-RU" sz="1050" dirty="0">
                <a:solidFill>
                  <a:schemeClr val="tx1"/>
                </a:solidFill>
              </a:rPr>
              <a:t>Выполнить токенизацию текста </a:t>
            </a:r>
            <a:r>
              <a:rPr lang="en-US" sz="1050" dirty="0">
                <a:solidFill>
                  <a:schemeClr val="tx1"/>
                </a:solidFill>
              </a:rPr>
              <a:t>dᵢ → </a:t>
            </a:r>
            <a:r>
              <a:rPr lang="ru-RU" sz="1050" dirty="0">
                <a:solidFill>
                  <a:schemeClr val="tx1"/>
                </a:solidFill>
              </a:rPr>
              <a:t>получить термы </a:t>
            </a:r>
            <a:r>
              <a:rPr lang="en-US" sz="1050" dirty="0">
                <a:solidFill>
                  <a:schemeClr val="tx1"/>
                </a:solidFill>
              </a:rPr>
              <a:t>T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4.2.  </a:t>
            </a:r>
            <a:r>
              <a:rPr lang="ru-RU" sz="1050" dirty="0">
                <a:solidFill>
                  <a:schemeClr val="tx1"/>
                </a:solidFill>
              </a:rPr>
              <a:t>ДЛЯ КАЖДОГО терма </a:t>
            </a:r>
            <a:r>
              <a:rPr lang="en-US" sz="1050" dirty="0">
                <a:solidFill>
                  <a:schemeClr val="tx1"/>
                </a:solidFill>
              </a:rPr>
              <a:t>tⱼ </a:t>
            </a:r>
            <a:r>
              <a:rPr lang="ru-RU" sz="1050" dirty="0">
                <a:solidFill>
                  <a:schemeClr val="tx1"/>
                </a:solidFill>
              </a:rPr>
              <a:t>ИЗ </a:t>
            </a:r>
            <a:r>
              <a:rPr lang="en-US" sz="1050" dirty="0">
                <a:solidFill>
                  <a:schemeClr val="tx1"/>
                </a:solidFill>
              </a:rPr>
              <a:t>T: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4.2.1.  </a:t>
            </a:r>
            <a:r>
              <a:rPr lang="ru-RU" sz="1050" dirty="0">
                <a:solidFill>
                  <a:schemeClr val="tx1"/>
                </a:solidFill>
              </a:rPr>
              <a:t>Добавить пару (</a:t>
            </a:r>
            <a:r>
              <a:rPr lang="en-US" sz="1050" dirty="0">
                <a:solidFill>
                  <a:schemeClr val="tx1"/>
                </a:solidFill>
              </a:rPr>
              <a:t>tⱼ, </a:t>
            </a:r>
            <a:r>
              <a:rPr lang="en-US" sz="1050" dirty="0" err="1">
                <a:solidFill>
                  <a:schemeClr val="tx1"/>
                </a:solidFill>
              </a:rPr>
              <a:t>docID</a:t>
            </a:r>
            <a:r>
              <a:rPr lang="en-US" sz="1050" dirty="0">
                <a:solidFill>
                  <a:schemeClr val="tx1"/>
                </a:solidFill>
              </a:rPr>
              <a:t>(dᵢ)) </a:t>
            </a:r>
            <a:r>
              <a:rPr lang="ru-RU" sz="1050" dirty="0">
                <a:solidFill>
                  <a:schemeClr val="tx1"/>
                </a:solidFill>
              </a:rPr>
              <a:t>в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              4.2.2. 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+= </a:t>
            </a:r>
            <a:r>
              <a:rPr lang="ru-RU" sz="1050" dirty="0" err="1">
                <a:solidFill>
                  <a:schemeClr val="tx1"/>
                </a:solidFill>
              </a:rPr>
              <a:t>размер_пары</a:t>
            </a:r>
            <a:r>
              <a:rPr lang="ru-RU" sz="1050" dirty="0">
                <a:solidFill>
                  <a:schemeClr val="tx1"/>
                </a:solidFill>
              </a:rPr>
              <a:t>(</a:t>
            </a:r>
            <a:r>
              <a:rPr lang="en-US" sz="1050" dirty="0">
                <a:solidFill>
                  <a:schemeClr val="tx1"/>
                </a:solidFill>
              </a:rPr>
              <a:t>tⱼ, </a:t>
            </a:r>
            <a:r>
              <a:rPr lang="en-US" sz="1050" dirty="0" err="1">
                <a:solidFill>
                  <a:schemeClr val="tx1"/>
                </a:solidFill>
              </a:rPr>
              <a:t>docID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</a:t>
            </a:r>
            <a:r>
              <a:rPr lang="ru-RU" sz="1050" dirty="0">
                <a:solidFill>
                  <a:schemeClr val="tx1"/>
                </a:solidFill>
              </a:rPr>
              <a:t>КОНЕЦ ЦИКЛА</a:t>
            </a:r>
          </a:p>
          <a:p>
            <a:endParaRPr lang="ru-RU" sz="1050" dirty="0">
              <a:solidFill>
                <a:schemeClr val="tx1"/>
              </a:solidFill>
            </a:endParaRPr>
          </a:p>
          <a:p>
            <a:r>
              <a:rPr lang="ru-RU" sz="1050" dirty="0">
                <a:solidFill>
                  <a:schemeClr val="tx1"/>
                </a:solidFill>
              </a:rPr>
              <a:t>        4.3.  ЕСЛИ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&gt; BLOCK_SIZE: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4.3.1.  </a:t>
            </a:r>
            <a:r>
              <a:rPr lang="ru-RU" sz="1050" dirty="0">
                <a:solidFill>
                  <a:schemeClr val="tx1"/>
                </a:solidFill>
              </a:rPr>
              <a:t>Вызвать </a:t>
            </a:r>
            <a:r>
              <a:rPr lang="en-US" sz="1050" dirty="0">
                <a:solidFill>
                  <a:schemeClr val="tx1"/>
                </a:solidFill>
              </a:rPr>
              <a:t>WRITE_SORTED_BLOCK(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4.3.2.  </a:t>
            </a:r>
            <a:r>
              <a:rPr lang="ru-RU" sz="1050" dirty="0">
                <a:solidFill>
                  <a:schemeClr val="tx1"/>
                </a:solidFill>
              </a:rPr>
              <a:t>Очистить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 = []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      4.3.3.  </a:t>
            </a:r>
            <a:r>
              <a:rPr lang="ru-RU" sz="1050" dirty="0">
                <a:solidFill>
                  <a:schemeClr val="tx1"/>
                </a:solidFill>
              </a:rPr>
              <a:t>Сбросить </a:t>
            </a:r>
            <a:r>
              <a:rPr lang="en-US" sz="1050" dirty="0" err="1">
                <a:solidFill>
                  <a:schemeClr val="tx1"/>
                </a:solidFill>
              </a:rPr>
              <a:t>currentSize</a:t>
            </a:r>
            <a:r>
              <a:rPr lang="en-US" sz="1050" dirty="0">
                <a:solidFill>
                  <a:schemeClr val="tx1"/>
                </a:solidFill>
              </a:rPr>
              <a:t> = 0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    </a:t>
            </a:r>
            <a:r>
              <a:rPr lang="ru-RU" sz="1050" dirty="0">
                <a:solidFill>
                  <a:schemeClr val="tx1"/>
                </a:solidFill>
              </a:rPr>
              <a:t>КОНЕЦ ЕСЛИ</a:t>
            </a:r>
          </a:p>
          <a:p>
            <a:r>
              <a:rPr lang="ru-RU" sz="1050" dirty="0">
                <a:solidFill>
                  <a:schemeClr val="tx1"/>
                </a:solidFill>
              </a:rPr>
              <a:t>    КОНЕЦ ЦИКЛА</a:t>
            </a:r>
          </a:p>
          <a:p>
            <a:endParaRPr lang="ru-RU" sz="1050" dirty="0">
              <a:solidFill>
                <a:schemeClr val="tx1"/>
              </a:solidFill>
            </a:endParaRPr>
          </a:p>
          <a:p>
            <a:r>
              <a:rPr lang="ru-RU" sz="1050" dirty="0">
                <a:solidFill>
                  <a:schemeClr val="tx1"/>
                </a:solidFill>
              </a:rPr>
              <a:t>    5.  ЕСЛИ 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 </a:t>
            </a:r>
            <a:r>
              <a:rPr lang="ru-RU" sz="1050" dirty="0">
                <a:solidFill>
                  <a:schemeClr val="tx1"/>
                </a:solidFill>
              </a:rPr>
              <a:t>НЕ пустой:</a:t>
            </a:r>
          </a:p>
          <a:p>
            <a:r>
              <a:rPr lang="ru-RU" sz="1050" dirty="0">
                <a:solidFill>
                  <a:schemeClr val="tx1"/>
                </a:solidFill>
              </a:rPr>
              <a:t>        5.1.  Вызвать </a:t>
            </a:r>
            <a:r>
              <a:rPr lang="en-US" sz="1050" dirty="0">
                <a:solidFill>
                  <a:schemeClr val="tx1"/>
                </a:solidFill>
              </a:rPr>
              <a:t>WRITE_SORTED_BLOCK(</a:t>
            </a:r>
            <a:r>
              <a:rPr lang="en-US" sz="1050" dirty="0" err="1">
                <a:solidFill>
                  <a:schemeClr val="tx1"/>
                </a:solidFill>
              </a:rPr>
              <a:t>currentBlock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</a:t>
            </a:r>
            <a:r>
              <a:rPr lang="ru-RU" sz="1050" dirty="0">
                <a:solidFill>
                  <a:schemeClr val="tx1"/>
                </a:solidFill>
              </a:rPr>
              <a:t>КОНЕЦ ЕСЛИ</a:t>
            </a:r>
          </a:p>
          <a:p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    6.  </a:t>
            </a:r>
            <a:r>
              <a:rPr lang="ru-RU" sz="1050" dirty="0">
                <a:solidFill>
                  <a:schemeClr val="tx1"/>
                </a:solidFill>
              </a:rPr>
              <a:t>Вызвать </a:t>
            </a:r>
            <a:r>
              <a:rPr lang="en-US" sz="1050" dirty="0">
                <a:solidFill>
                  <a:schemeClr val="tx1"/>
                </a:solidFill>
              </a:rPr>
              <a:t>MERGE_BLOCKS(</a:t>
            </a:r>
            <a:r>
              <a:rPr lang="en-US" sz="1050" dirty="0" err="1">
                <a:solidFill>
                  <a:schemeClr val="tx1"/>
                </a:solidFill>
              </a:rPr>
              <a:t>blockFiles</a:t>
            </a:r>
            <a:r>
              <a:rPr lang="en-US" sz="1050" dirty="0">
                <a:solidFill>
                  <a:schemeClr val="tx1"/>
                </a:solidFill>
              </a:rPr>
              <a:t>) → </a:t>
            </a:r>
            <a:r>
              <a:rPr lang="ru-RU" sz="1050" dirty="0">
                <a:solidFill>
                  <a:schemeClr val="tx1"/>
                </a:solidFill>
              </a:rPr>
              <a:t>получить финальный индекс </a:t>
            </a:r>
            <a:r>
              <a:rPr lang="en-US" sz="1050" dirty="0">
                <a:solidFill>
                  <a:schemeClr val="tx1"/>
                </a:solidFill>
              </a:rPr>
              <a:t>I</a:t>
            </a:r>
          </a:p>
          <a:p>
            <a:r>
              <a:rPr lang="en-US" sz="1050" dirty="0">
                <a:solidFill>
                  <a:schemeClr val="tx1"/>
                </a:solidFill>
              </a:rPr>
              <a:t>    7.  </a:t>
            </a:r>
            <a:r>
              <a:rPr lang="ru-RU" sz="1050" dirty="0">
                <a:solidFill>
                  <a:schemeClr val="tx1"/>
                </a:solidFill>
              </a:rPr>
              <a:t>Вернуть </a:t>
            </a:r>
            <a:r>
              <a:rPr lang="en-US" sz="1050" dirty="0">
                <a:solidFill>
                  <a:schemeClr val="tx1"/>
                </a:solidFill>
              </a:rPr>
              <a:t>I</a:t>
            </a:r>
          </a:p>
          <a:p>
            <a:r>
              <a:rPr lang="ru-RU" sz="1050" dirty="0">
                <a:solidFill>
                  <a:schemeClr val="tx1"/>
                </a:solidFill>
              </a:rPr>
              <a:t>КОНЕЦ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55135C-4F58-F0AF-C744-31CF890D876F}"/>
              </a:ext>
            </a:extLst>
          </p:cNvPr>
          <p:cNvSpPr txBox="1"/>
          <p:nvPr/>
        </p:nvSpPr>
        <p:spPr>
          <a:xfrm>
            <a:off x="610658" y="2851487"/>
            <a:ext cx="534389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Работа: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Читаем документы порциями (блоками), сколько влезает в память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Для каждого блока создаём пары (слово, </a:t>
            </a: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номер_документа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Сортируем эти пары в памяти (по слову, потом по номеру документа)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Записываем отсортированный блок на диск как временный файл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Когда все документы обработаны, берём все временные файлы и </a:t>
            </a: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сливаем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 их в один финальный индекс (как в </a:t>
            </a: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merge-sort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— берём из каждого файла по одному элементу, выбираем минимальный, записываем)</a:t>
            </a:r>
          </a:p>
        </p:txBody>
      </p:sp>
    </p:spTree>
    <p:extLst>
      <p:ext uri="{BB962C8B-B14F-4D97-AF65-F5344CB8AC3E}">
        <p14:creationId xmlns:p14="http://schemas.microsoft.com/office/powerpoint/2010/main" val="1965427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6758B-EDB7-255B-6C32-AA4F1BDF82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1C2D89-022D-BAA2-9896-24850A22B672}"/>
              </a:ext>
            </a:extLst>
          </p:cNvPr>
          <p:cNvSpPr txBox="1"/>
          <p:nvPr/>
        </p:nvSpPr>
        <p:spPr>
          <a:xfrm>
            <a:off x="5191746" y="226873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517327-20B3-F83D-D634-CD3CBF8EA432}"/>
              </a:ext>
            </a:extLst>
          </p:cNvPr>
          <p:cNvSpPr txBox="1"/>
          <p:nvPr/>
        </p:nvSpPr>
        <p:spPr>
          <a:xfrm>
            <a:off x="1088860" y="798373"/>
            <a:ext cx="100142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BSBI — Blocked Sort-Based Indexing (</a:t>
            </a:r>
            <a:r>
              <a:rPr lang="ru-RU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блочное индексирование с сортировкой)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4A8607-9664-81FF-CFF6-DC3ADDCA7C21}"/>
              </a:ext>
            </a:extLst>
          </p:cNvPr>
          <p:cNvSpPr txBox="1"/>
          <p:nvPr/>
        </p:nvSpPr>
        <p:spPr>
          <a:xfrm>
            <a:off x="2700147" y="1420413"/>
            <a:ext cx="679170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Пара — это простая запись: </a:t>
            </a:r>
            <a:r>
              <a:rPr lang="ru-RU" sz="1400" b="1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«слово X встретилось в документе Y»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CEB3C7-8EE0-743F-494D-A25E183D8185}"/>
              </a:ext>
            </a:extLst>
          </p:cNvPr>
          <p:cNvSpPr txBox="1"/>
          <p:nvPr/>
        </p:nvSpPr>
        <p:spPr>
          <a:xfrm>
            <a:off x="2060257" y="1980898"/>
            <a:ext cx="766914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4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Doc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 1: "кошка сидит на ковре"  →  пары: (кошка,1), (сидит,1), (ковре,1)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69F101-5B75-5996-BAC5-204C071B6D7E}"/>
              </a:ext>
            </a:extLst>
          </p:cNvPr>
          <p:cNvSpPr txBox="1"/>
          <p:nvPr/>
        </p:nvSpPr>
        <p:spPr>
          <a:xfrm>
            <a:off x="2060257" y="2288675"/>
            <a:ext cx="77603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Doc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2: "собака лежит на ковре" →  пары: (собака,2), (лежит,2), (ковре,2)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C4FB079-0AEB-A66E-4E03-7E3B279A9913}"/>
              </a:ext>
            </a:extLst>
          </p:cNvPr>
          <p:cNvSpPr txBox="1"/>
          <p:nvPr/>
        </p:nvSpPr>
        <p:spPr>
          <a:xfrm>
            <a:off x="2060257" y="2596452"/>
            <a:ext cx="776039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Doc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3: "кошка собака играют" → пары: (кошка,3), (собака,3), (играют,3)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A2DE52-A68E-2ED5-27A2-E48F8399FA10}"/>
              </a:ext>
            </a:extLst>
          </p:cNvPr>
          <p:cNvSpPr txBox="1"/>
          <p:nvPr/>
        </p:nvSpPr>
        <p:spPr>
          <a:xfrm>
            <a:off x="1188721" y="3557016"/>
            <a:ext cx="1664208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(сидит,1)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(ковре,1)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(лежит,2)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(ковре,2)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(кошка,3)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(собака,3)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(играют,3)</a:t>
            </a:r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4EF8C70-CFCA-F7D0-B544-C43828C7AA76}"/>
              </a:ext>
            </a:extLst>
          </p:cNvPr>
          <p:cNvSpPr txBox="1"/>
          <p:nvPr/>
        </p:nvSpPr>
        <p:spPr>
          <a:xfrm>
            <a:off x="3733038" y="3572631"/>
            <a:ext cx="16642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(сидит,1)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(ковре,1)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(лежит,2)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5F01B-C956-BD84-E308-EE84C4C220BB}"/>
              </a:ext>
            </a:extLst>
          </p:cNvPr>
          <p:cNvSpPr txBox="1"/>
          <p:nvPr/>
        </p:nvSpPr>
        <p:spPr>
          <a:xfrm>
            <a:off x="879754" y="3244334"/>
            <a:ext cx="22284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Все пары в памяти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3F6476-F42B-43D0-EB0E-C590C5D87980}"/>
              </a:ext>
            </a:extLst>
          </p:cNvPr>
          <p:cNvSpPr txBox="1"/>
          <p:nvPr/>
        </p:nvSpPr>
        <p:spPr>
          <a:xfrm>
            <a:off x="4102507" y="3259723"/>
            <a:ext cx="9060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Блок 1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321A10-ABE2-2D7E-373C-D92CBF3A6B17}"/>
              </a:ext>
            </a:extLst>
          </p:cNvPr>
          <p:cNvSpPr txBox="1"/>
          <p:nvPr/>
        </p:nvSpPr>
        <p:spPr>
          <a:xfrm>
            <a:off x="9503981" y="3717422"/>
            <a:ext cx="1351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block_1.tmp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45487D-CC48-7CE6-44B8-23A4ABF6F394}"/>
              </a:ext>
            </a:extLst>
          </p:cNvPr>
          <p:cNvSpPr txBox="1"/>
          <p:nvPr/>
        </p:nvSpPr>
        <p:spPr>
          <a:xfrm>
            <a:off x="9846960" y="3218462"/>
            <a:ext cx="6655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Файл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565160-2F02-6A52-D8DD-7199C1480D60}"/>
              </a:ext>
            </a:extLst>
          </p:cNvPr>
          <p:cNvSpPr txBox="1"/>
          <p:nvPr/>
        </p:nvSpPr>
        <p:spPr>
          <a:xfrm>
            <a:off x="6585488" y="3598277"/>
            <a:ext cx="166420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(ковре,1)</a:t>
            </a: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(кошка,1)</a:t>
            </a: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(лежит,2) 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(сидит,1)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(собака,2) 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8F58F1D-09B3-9500-7D14-342F1B28FB12}"/>
              </a:ext>
            </a:extLst>
          </p:cNvPr>
          <p:cNvSpPr txBox="1"/>
          <p:nvPr/>
        </p:nvSpPr>
        <p:spPr>
          <a:xfrm>
            <a:off x="6002782" y="3218462"/>
            <a:ext cx="28296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Отсортированный блок 1</a:t>
            </a:r>
            <a:endParaRPr lang="en-US" sz="16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C809915A-46EA-9C5C-8F85-04D2BD35E8F3}"/>
              </a:ext>
            </a:extLst>
          </p:cNvPr>
          <p:cNvSpPr/>
          <p:nvPr/>
        </p:nvSpPr>
        <p:spPr>
          <a:xfrm>
            <a:off x="8154397" y="5945021"/>
            <a:ext cx="4037604" cy="394635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Равнобедренный треугольник 26">
            <a:extLst>
              <a:ext uri="{FF2B5EF4-FFF2-40B4-BE49-F238E27FC236}">
                <a16:creationId xmlns:a16="http://schemas.microsoft.com/office/drawing/2014/main" id="{8C1ECE82-4CD4-5C21-9B04-FDE2350CD29F}"/>
              </a:ext>
            </a:extLst>
          </p:cNvPr>
          <p:cNvSpPr/>
          <p:nvPr/>
        </p:nvSpPr>
        <p:spPr>
          <a:xfrm rot="5400000">
            <a:off x="8052377" y="6047044"/>
            <a:ext cx="394636" cy="190595"/>
          </a:xfrm>
          <a:prstGeom prst="triangl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2E3503-EDBB-7F8F-14C6-ACAB28D9B960}"/>
              </a:ext>
            </a:extLst>
          </p:cNvPr>
          <p:cNvSpPr txBox="1"/>
          <p:nvPr/>
        </p:nvSpPr>
        <p:spPr>
          <a:xfrm>
            <a:off x="8344993" y="5988449"/>
            <a:ext cx="387118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b="1" dirty="0">
                <a:solidFill>
                  <a:schemeClr val="bg1"/>
                </a:solidFill>
              </a:rPr>
              <a:t>Постинг-лист создается по группировке термов</a:t>
            </a:r>
            <a:endParaRPr lang="en-US" sz="14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5110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DEC80-3092-4944-8654-4DF3BDFFE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4B5558-5E78-0070-C8EA-CCFAE3ECB4DE}"/>
              </a:ext>
            </a:extLst>
          </p:cNvPr>
          <p:cNvSpPr txBox="1"/>
          <p:nvPr/>
        </p:nvSpPr>
        <p:spPr>
          <a:xfrm>
            <a:off x="610658" y="273116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776B93C-2577-FAA7-6A96-B918914465E6}"/>
              </a:ext>
            </a:extLst>
          </p:cNvPr>
          <p:cNvSpPr txBox="1"/>
          <p:nvPr/>
        </p:nvSpPr>
        <p:spPr>
          <a:xfrm>
            <a:off x="610658" y="960119"/>
            <a:ext cx="5301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SPIMI — Single-Pass In-Memory Indexing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3E91396-FD6E-F76A-F6E6-D7FE3BBED4CE}"/>
              </a:ext>
            </a:extLst>
          </p:cNvPr>
          <p:cNvSpPr txBox="1"/>
          <p:nvPr/>
        </p:nvSpPr>
        <p:spPr>
          <a:xfrm>
            <a:off x="610658" y="1554789"/>
            <a:ext cx="5343896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Суть:</a:t>
            </a:r>
            <a:r>
              <a:rPr lang="ru-RU" sz="1400" dirty="0">
                <a:latin typeface="Cascadia Mono" panose="020B0609020000020004" pitchFamily="49" charset="0"/>
                <a:cs typeface="Cascadia Mono" panose="020B0609020000020004" pitchFamily="49" charset="0"/>
              </a:rPr>
              <a:t> улучшенная версия BSBI. Вместо того чтобы создавать пары (слово, документ) и потом сортировать, мы сразу строим словарь с постинг-листами в памяти. Когда память заполняется — сбрасываем на диск и начинаем новый блок.</a:t>
            </a: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E766B74A-3307-3558-31B7-FFD6F12A78E2}"/>
              </a:ext>
            </a:extLst>
          </p:cNvPr>
          <p:cNvSpPr/>
          <p:nvPr/>
        </p:nvSpPr>
        <p:spPr>
          <a:xfrm>
            <a:off x="6237449" y="298385"/>
            <a:ext cx="5488274" cy="6285297"/>
          </a:xfrm>
          <a:prstGeom prst="roundRect">
            <a:avLst>
              <a:gd name="adj" fmla="val 10118"/>
            </a:avLst>
          </a:prstGeom>
          <a:solidFill>
            <a:schemeClr val="bg1">
              <a:lumMod val="95000"/>
            </a:scheme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ВХОД:  поток токенов из документов 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docID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текст)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лимит памяти: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MEMORY_LIMIT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ВЫХОД: финальный инвертированный индекс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I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на диске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НАЧАЛО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1.  Создать пустой словарь текущего блока: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{}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2.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Создать пустой список блочных файлов: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[]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3.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Установить счётчик памяти: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0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4.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ДЛЯ КАЖДОГО элемента 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docID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текст) ИЗ входного потока: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4.1.  Выполнить токенизацию текста → получить термы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4.2.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ДЛЯ КАЖДОГО терма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tⱼ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ИЗ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T: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4.2.1.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ЕСЛИ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tⱼ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НЕТ в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: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Создать новую запись: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[tⱼ] =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новый динамический список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            начальной ёмкости 4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+= </a:t>
            </a:r>
            <a:r>
              <a:rPr lang="ru-RU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размер_записи_словаря</a:t>
            </a:r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КОНЕЦ ЕСЛИ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4.2.2.  Добавить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docID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[tⱼ]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+=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sizeof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(int)    // ≈ 4-8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байт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4.2.3.  ЕСЛИ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&gt; MEMORY_LIMIT: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Вызвать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SPIMI_WRITE_BLOCK(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)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Очистить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{}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Сбросить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memUsage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= 0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  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КОНЕЦ ЕСЛИ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КОНЕЦ ЦИКЛА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КОНЕЦ ЦИКЛА</a:t>
            </a:r>
          </a:p>
          <a:p>
            <a:endParaRPr lang="ru-RU" sz="1100" dirty="0">
              <a:solidFill>
                <a:schemeClr val="tx1"/>
              </a:solidFill>
              <a:cs typeface="Cascadia Mono" panose="020B0609020000020004" pitchFamily="49" charset="0"/>
            </a:endParaRP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5.  ЕСЛИ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НЕ пустой: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    5.1.  Вызвать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SPIMI_WRITE_BLOCK(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dict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, 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)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КОНЕЦ ЕСЛИ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6.  Вызвать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SPIMI_MERGE(</a:t>
            </a:r>
            <a:r>
              <a:rPr lang="en-US" sz="1100" dirty="0" err="1">
                <a:solidFill>
                  <a:schemeClr val="tx1"/>
                </a:solidFill>
                <a:cs typeface="Cascadia Mono" panose="020B0609020000020004" pitchFamily="49" charset="0"/>
              </a:rPr>
              <a:t>blockFiles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) →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финальный индекс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I</a:t>
            </a:r>
          </a:p>
          <a:p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    7.  </a:t>
            </a:r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Вернуть </a:t>
            </a:r>
            <a:r>
              <a:rPr lang="en-US" sz="1100" dirty="0">
                <a:solidFill>
                  <a:schemeClr val="tx1"/>
                </a:solidFill>
                <a:cs typeface="Cascadia Mono" panose="020B0609020000020004" pitchFamily="49" charset="0"/>
              </a:rPr>
              <a:t>I</a:t>
            </a:r>
          </a:p>
          <a:p>
            <a:r>
              <a:rPr lang="ru-RU" sz="1100" dirty="0">
                <a:solidFill>
                  <a:schemeClr val="tx1"/>
                </a:solidFill>
                <a:cs typeface="Cascadia Mono" panose="020B0609020000020004" pitchFamily="49" charset="0"/>
              </a:rPr>
              <a:t>КОНЕЦ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9A3C3AE-0F8F-125E-6C82-F7AB7B6EADAD}"/>
              </a:ext>
            </a:extLst>
          </p:cNvPr>
          <p:cNvSpPr txBox="1"/>
          <p:nvPr/>
        </p:nvSpPr>
        <p:spPr>
          <a:xfrm>
            <a:off x="610658" y="2800636"/>
            <a:ext cx="5485342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sz="1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Работа:</a:t>
            </a:r>
            <a:endParaRPr lang="en-US" sz="1400" b="1" i="0" dirty="0"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Создаём пустой словарь в памяти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Читаем документы один за другим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Для каждого слова: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Если слова нет в словаре — создаём запись с маленьким списком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Если есть — просто добавляем номер документа в список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Следим за потреблением памяти. Когда подходим к лимиту: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Сортируем термы по алфавиту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Записываем блок на диск (терм : </a:t>
            </a:r>
            <a:r>
              <a:rPr lang="ru-RU" sz="1400" b="0" i="0" dirty="0" err="1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список_документов</a:t>
            </a: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Очищаем словарь, начинаем заново</a:t>
            </a:r>
          </a:p>
          <a:p>
            <a:pPr algn="l">
              <a:buFont typeface="+mj-lt"/>
              <a:buAutoNum type="arabicPeriod"/>
            </a:pPr>
            <a:r>
              <a:rPr lang="ru-RU" sz="1400" b="0" i="0" dirty="0"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В конце сливаем все блоки (как в BSBI)</a:t>
            </a:r>
          </a:p>
        </p:txBody>
      </p:sp>
    </p:spTree>
    <p:extLst>
      <p:ext uri="{BB962C8B-B14F-4D97-AF65-F5344CB8AC3E}">
        <p14:creationId xmlns:p14="http://schemas.microsoft.com/office/powerpoint/2010/main" val="89722960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E1174-A601-283D-7E49-7A910EDCE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E39AD7-0BEA-26A0-7657-8F5E36C04DE9}"/>
              </a:ext>
            </a:extLst>
          </p:cNvPr>
          <p:cNvSpPr txBox="1"/>
          <p:nvPr/>
        </p:nvSpPr>
        <p:spPr>
          <a:xfrm>
            <a:off x="5191746" y="273116"/>
            <a:ext cx="18085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Алгоритмы</a:t>
            </a:r>
            <a:endParaRPr lang="en-US" sz="2400" b="1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2F873F-30EA-F3ED-FCAE-41EACABB079C}"/>
              </a:ext>
            </a:extLst>
          </p:cNvPr>
          <p:cNvSpPr txBox="1"/>
          <p:nvPr/>
        </p:nvSpPr>
        <p:spPr>
          <a:xfrm>
            <a:off x="3445274" y="822959"/>
            <a:ext cx="53014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Cascadia Mono" panose="020B0609020000020004" pitchFamily="49" charset="0"/>
                <a:cs typeface="Cascadia Mono" panose="020B0609020000020004" pitchFamily="49" charset="0"/>
              </a:rPr>
              <a:t>SPIMI — Single-Pass In-Memory Indexing</a:t>
            </a:r>
          </a:p>
        </p:txBody>
      </p:sp>
      <p:graphicFrame>
        <p:nvGraphicFramePr>
          <p:cNvPr id="7" name="Таблица 6">
            <a:extLst>
              <a:ext uri="{FF2B5EF4-FFF2-40B4-BE49-F238E27FC236}">
                <a16:creationId xmlns:a16="http://schemas.microsoft.com/office/drawing/2014/main" id="{A0F13A35-6BBA-4974-3E9A-9396F1710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5264141"/>
              </p:ext>
            </p:extLst>
          </p:nvPr>
        </p:nvGraphicFramePr>
        <p:xfrm>
          <a:off x="1043351" y="2193544"/>
          <a:ext cx="274973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ковре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B365DE8-C5BB-69CD-5BED-6F791C9FC8AA}"/>
              </a:ext>
            </a:extLst>
          </p:cNvPr>
          <p:cNvSpPr txBox="1"/>
          <p:nvPr/>
        </p:nvSpPr>
        <p:spPr>
          <a:xfrm>
            <a:off x="1184122" y="1627632"/>
            <a:ext cx="270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Чтение 1-го документа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B2008E04-5AB7-D573-C3D4-73A57A78F0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6191922"/>
              </p:ext>
            </p:extLst>
          </p:nvPr>
        </p:nvGraphicFramePr>
        <p:xfrm>
          <a:off x="4403571" y="2183384"/>
          <a:ext cx="2749735" cy="22250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сидит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ковре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[1, 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собака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853479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лежит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[2]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617595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DB1672C4-F9BA-B6EE-4ADB-31B4D8B3984F}"/>
              </a:ext>
            </a:extLst>
          </p:cNvPr>
          <p:cNvSpPr txBox="1"/>
          <p:nvPr/>
        </p:nvSpPr>
        <p:spPr>
          <a:xfrm>
            <a:off x="4403571" y="1627632"/>
            <a:ext cx="270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Чтение 2-го документа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AE048D-6A78-5403-A24D-80B0CFE7C281}"/>
              </a:ext>
            </a:extLst>
          </p:cNvPr>
          <p:cNvSpPr txBox="1"/>
          <p:nvPr/>
        </p:nvSpPr>
        <p:spPr>
          <a:xfrm>
            <a:off x="2884982" y="4872510"/>
            <a:ext cx="54361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Если упёрлись в память – временный файл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25DA9B65-3944-CDE6-1E8B-1CB2E336B3AB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5603034" y="4517023"/>
            <a:ext cx="0" cy="35548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5" name="Таблица 14">
            <a:extLst>
              <a:ext uri="{FF2B5EF4-FFF2-40B4-BE49-F238E27FC236}">
                <a16:creationId xmlns:a16="http://schemas.microsoft.com/office/drawing/2014/main" id="{70667B42-5EFF-C8BC-1F80-B66C947701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3367142"/>
              </p:ext>
            </p:extLst>
          </p:nvPr>
        </p:nvGraphicFramePr>
        <p:xfrm>
          <a:off x="8088182" y="2193544"/>
          <a:ext cx="2749735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72758">
                  <a:extLst>
                    <a:ext uri="{9D8B030D-6E8A-4147-A177-3AD203B41FA5}">
                      <a16:colId xmlns:a16="http://schemas.microsoft.com/office/drawing/2014/main" val="505475472"/>
                    </a:ext>
                  </a:extLst>
                </a:gridCol>
                <a:gridCol w="1676977">
                  <a:extLst>
                    <a:ext uri="{9D8B030D-6E8A-4147-A177-3AD203B41FA5}">
                      <a16:colId xmlns:a16="http://schemas.microsoft.com/office/drawing/2014/main" val="2716606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Терм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Постинг-лист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54022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кошка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</a:t>
                      </a:r>
                      <a:r>
                        <a:rPr lang="ru-RU" dirty="0"/>
                        <a:t>3</a:t>
                      </a:r>
                      <a:r>
                        <a:rPr lang="en-US" dirty="0"/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3832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собака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</a:t>
                      </a:r>
                      <a:r>
                        <a:rPr lang="ru-RU" dirty="0"/>
                        <a:t>3</a:t>
                      </a:r>
                      <a:r>
                        <a:rPr lang="en-US" dirty="0"/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93156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играют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[</a:t>
                      </a:r>
                      <a:r>
                        <a:rPr lang="ru-RU" dirty="0"/>
                        <a:t>3</a:t>
                      </a:r>
                      <a:r>
                        <a:rPr lang="en-US" dirty="0"/>
                        <a:t>]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15896410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B60EC2B2-693E-1D18-B825-58938067DB0F}"/>
              </a:ext>
            </a:extLst>
          </p:cNvPr>
          <p:cNvSpPr txBox="1"/>
          <p:nvPr/>
        </p:nvSpPr>
        <p:spPr>
          <a:xfrm>
            <a:off x="8088182" y="1627632"/>
            <a:ext cx="27093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Чтение 3-го документа</a:t>
            </a:r>
            <a:endParaRPr lang="en-US" sz="1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DACBFEF-D0D8-F644-3863-4049A7510C2B}"/>
              </a:ext>
            </a:extLst>
          </p:cNvPr>
          <p:cNvSpPr txBox="1"/>
          <p:nvPr/>
        </p:nvSpPr>
        <p:spPr>
          <a:xfrm>
            <a:off x="7592901" y="3973843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dirty="0">
                <a:latin typeface="Cascadia Mono" panose="020B0609020000020004" pitchFamily="49" charset="0"/>
                <a:cs typeface="Cascadia Mono" panose="020B0609020000020004" pitchFamily="49" charset="0"/>
              </a:rPr>
              <a:t>С нуля, если был сброс в файл</a:t>
            </a:r>
            <a:endParaRPr lang="en-US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15765CBB-9F04-8963-2034-4F6AC34E6417}"/>
              </a:ext>
            </a:extLst>
          </p:cNvPr>
          <p:cNvCxnSpPr>
            <a:cxnSpLocks/>
          </p:cNvCxnSpPr>
          <p:nvPr/>
        </p:nvCxnSpPr>
        <p:spPr>
          <a:xfrm flipV="1">
            <a:off x="9463049" y="3767328"/>
            <a:ext cx="0" cy="23763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Правая фигурная скобка 20">
            <a:extLst>
              <a:ext uri="{FF2B5EF4-FFF2-40B4-BE49-F238E27FC236}">
                <a16:creationId xmlns:a16="http://schemas.microsoft.com/office/drawing/2014/main" id="{B70A4EF9-8C4D-5D09-3757-87641FFFB4AF}"/>
              </a:ext>
            </a:extLst>
          </p:cNvPr>
          <p:cNvSpPr/>
          <p:nvPr/>
        </p:nvSpPr>
        <p:spPr>
          <a:xfrm rot="5400000">
            <a:off x="5935980" y="1580373"/>
            <a:ext cx="320040" cy="8186928"/>
          </a:xfrm>
          <a:prstGeom prst="righ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F2A666F-3335-B3D9-8DA4-ED34450FA2AB}"/>
              </a:ext>
            </a:extLst>
          </p:cNvPr>
          <p:cNvSpPr txBox="1"/>
          <p:nvPr/>
        </p:nvSpPr>
        <p:spPr>
          <a:xfrm>
            <a:off x="4140175" y="5906783"/>
            <a:ext cx="39116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Объединение, как в </a:t>
            </a:r>
            <a:r>
              <a:rPr lang="en-US" sz="1600" dirty="0">
                <a:latin typeface="Cascadia Mono" panose="020B0609020000020004" pitchFamily="49" charset="0"/>
                <a:cs typeface="Cascadia Mono" panose="020B0609020000020004" pitchFamily="49" charset="0"/>
              </a:rPr>
              <a:t>BSBI (merge)</a:t>
            </a:r>
          </a:p>
        </p:txBody>
      </p:sp>
    </p:spTree>
    <p:extLst>
      <p:ext uri="{BB962C8B-B14F-4D97-AF65-F5344CB8AC3E}">
        <p14:creationId xmlns:p14="http://schemas.microsoft.com/office/powerpoint/2010/main" val="32670949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A3B5D15-3109-E176-41B4-C87A130E0BB2}"/>
              </a:ext>
            </a:extLst>
          </p:cNvPr>
          <p:cNvSpPr txBox="1"/>
          <p:nvPr/>
        </p:nvSpPr>
        <p:spPr>
          <a:xfrm>
            <a:off x="4242768" y="3105835"/>
            <a:ext cx="37064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*TODO: 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ТЕСТЫ</a:t>
            </a:r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0134411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C180DED-1057-2749-879C-23E2442213B2}"/>
              </a:ext>
            </a:extLst>
          </p:cNvPr>
          <p:cNvSpPr txBox="1"/>
          <p:nvPr/>
        </p:nvSpPr>
        <p:spPr>
          <a:xfrm>
            <a:off x="2646784" y="2551837"/>
            <a:ext cx="689843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*</a:t>
            </a:r>
            <a:r>
              <a:rPr lang="en-US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TODO: 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ЗНАЧИМОСТЬ ПРОЕКТА, РЕЗУЛЬТАТЫ, ВЫВОДЫ И ЧТО ТО*</a:t>
            </a:r>
            <a:endParaRPr lang="en-US" sz="3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17220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6DE7AF-FFEC-7DD8-8F1E-BC8DD0FEB1C6}"/>
              </a:ext>
            </a:extLst>
          </p:cNvPr>
          <p:cNvSpPr txBox="1"/>
          <p:nvPr/>
        </p:nvSpPr>
        <p:spPr>
          <a:xfrm>
            <a:off x="3971860" y="1231641"/>
            <a:ext cx="42482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dirty="0" err="1">
                <a:latin typeface="Cascadia Mono" panose="020B0609020000020004" pitchFamily="49" charset="0"/>
                <a:cs typeface="Cascadia Mono" panose="020B0609020000020004" pitchFamily="49" charset="0"/>
              </a:rPr>
              <a:t>Спс</a:t>
            </a:r>
            <a:r>
              <a:rPr lang="ru-RU" sz="3600" dirty="0">
                <a:latin typeface="Cascadia Mono" panose="020B0609020000020004" pitchFamily="49" charset="0"/>
                <a:cs typeface="Cascadia Mono" panose="020B0609020000020004" pitchFamily="49" charset="0"/>
              </a:rPr>
              <a:t> за просмотр</a:t>
            </a:r>
            <a:endParaRPr lang="en-US" sz="36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736766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1894</Words>
  <Application>Microsoft Office PowerPoint</Application>
  <PresentationFormat>Широкоэкранный</PresentationFormat>
  <Paragraphs>293</Paragraphs>
  <Slides>17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Arial</vt:lpstr>
      <vt:lpstr>Calibri</vt:lpstr>
      <vt:lpstr>Calibri Light</vt:lpstr>
      <vt:lpstr>Cambria Math</vt:lpstr>
      <vt:lpstr>Cascadia Code</vt:lpstr>
      <vt:lpstr>Cascadia Mono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Данила Думчев</dc:creator>
  <cp:lastModifiedBy>Данила Думчев</cp:lastModifiedBy>
  <cp:revision>9</cp:revision>
  <dcterms:created xsi:type="dcterms:W3CDTF">2026-02-17T16:58:37Z</dcterms:created>
  <dcterms:modified xsi:type="dcterms:W3CDTF">2026-03-11T11:10:02Z</dcterms:modified>
</cp:coreProperties>
</file>