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B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32DB98-C80A-491A-B0EB-ACC58FF0CAE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E3D4D-8DF1-4B4D-877E-1334E80E4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35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В современном мире объемы неструктурированных данных растут экспоненциально, достигая зеттабайт. Поисковые системы, основанные на инвертированном индексе и булевых запросах, обеспечивают быстрый доступ к информации, что критично для образования, бизнеса и науки. Актуальность темы обусловлена их ролью в системах вроде Google и Яндекс.</a:t>
            </a:r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E3D4D-8DF1-4B4D-877E-1334E80E42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23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Цель исследования: изучить теоретические основы инвертированного индекса и алгоритмов обработки булевых запросов в информационно-поисковых системах.</a:t>
            </a:r>
          </a:p>
          <a:p>
            <a:r>
              <a:rPr lang="ru-RU" dirty="0">
                <a:effectLst/>
              </a:rPr>
              <a:t>Задачи: 1) проанализировать архитектуру поисковых систем; 2) описать структуру инвертированного индекса; 3) рассмотреть алгоритмы построения (BSBI, SPIMI); 4) изложить алгоритмы булевых запросов и оптимизации; 5) провести сравнительный анализ эффективности.</a:t>
            </a:r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E3D4D-8DF1-4B4D-877E-1334E80E42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81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E3D4D-8DF1-4B4D-877E-1334E80E42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20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2C921C-14BD-15EA-3B65-BFFA29666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C46EA3-6745-F4F6-6111-429148354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7D7C95-DFA9-DC9C-FD71-38168472C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AA8D-6ECF-453B-9B6B-12457D7294E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DC88A5-FDF0-39FD-8E05-CA5DE34B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A074E7-5D23-2337-DC27-00248690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AA1-F1D8-4363-A0A2-17911A159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42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1900A1-3481-BAB8-A5F4-4BF5A014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56B794-228C-315B-6E68-E52CDD945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800E4A-47B7-CAEA-F62D-68D847DF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AA8D-6ECF-453B-9B6B-12457D7294E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80F718-D56C-3928-8E72-94B99BC1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A9525A-4FBC-8862-5E4B-1CC9FC7B3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AA1-F1D8-4363-A0A2-17911A159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2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548DC6-76BD-9E27-F218-4F08EC085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4A639B-40A2-499F-DBF2-213F3881D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0A727C-8133-7729-CC6D-3F0562BB3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AA8D-6ECF-453B-9B6B-12457D7294E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A6D2BF-D7D7-E6B7-A7CB-8FDB036E7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E97C1A-AA09-F937-C268-886BE13E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AA1-F1D8-4363-A0A2-17911A159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9940-0C81-0073-A998-C4365CB6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D323D3-41B1-398C-101B-C0CF9520BD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696520-CC84-F921-2C48-9BD03F912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E60810-9C47-B0D6-A34C-186C7B6E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AA8D-6ECF-453B-9B6B-12457D7294E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4382C6-5A57-0D55-CB31-80C6EB3A1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0604A6-67F0-42AB-D4E3-5E963D29E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AA1-F1D8-4363-A0A2-17911A159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FAE40-122A-E065-BA6B-78303C4CD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EDD27B-D27E-984D-0AF2-5F5D333B9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CAB8EF-42AE-3E97-9B1A-8A2FE3126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416301B-6987-2A7D-0127-69DADA9F5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4D4296E-238B-FF93-66E9-5776BE052E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3AFCCB5-C958-EF1B-A4F2-C7930F2C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AA8D-6ECF-453B-9B6B-12457D7294E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F26E2AC-873C-8E92-348D-5BD4747C8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4D9360E-A56C-E862-756D-A354F9F5B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AA1-F1D8-4363-A0A2-17911A159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63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DF2B1-7809-E34B-DCAE-49AB2E2A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00706C9-3AE2-FB6A-F680-9FE12FA6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AA8D-6ECF-453B-9B6B-12457D7294E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42C4B9A-22A9-95A5-EB3B-8CCBEF167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4573DB-56C5-F710-CC3F-DC8F7E9EF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AA1-F1D8-4363-A0A2-17911A159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46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68FA0CE-E24A-DF36-CD7E-CCE1B746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AA8D-6ECF-453B-9B6B-12457D7294E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125C634-A32C-D774-3859-4F259E75E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AADBFF-2A26-998A-9633-5B6F23E2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AA1-F1D8-4363-A0A2-17911A159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7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5F069-8DD6-5635-8EB6-FB7A8673F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E812CE-ECFB-26FA-E0B7-68BBD8B66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0E04AF-1784-1B6E-57F6-1E023C43E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4436EB-503F-3DC9-A68A-21E2A7F4A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AA8D-6ECF-453B-9B6B-12457D7294E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CBF4EB-7579-E25A-1AFC-51230E5F6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9E3540-9EB9-7564-B598-513B55869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AA1-F1D8-4363-A0A2-17911A159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0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3173EE-8226-C2B2-82A9-0BFD8658A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1C1BF99-272D-77B9-3761-DC9DEDD92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0FBF70-188F-D4A7-1604-4DA23AFAA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3939BB-B72C-63A1-721B-7EFDB5327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AA8D-6ECF-453B-9B6B-12457D7294E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73C246-F3A0-0D47-66B4-298DDA84A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1F3EA1A-743D-22C5-CC0C-66DC4CA71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AA1-F1D8-4363-A0A2-17911A159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64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78D52-EFD9-75A4-BF5E-8F376A2E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A74E7FD-4139-138E-E8AC-E488CFEC0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A08E27-0956-9D3F-D9EF-E75ADED32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AA8D-6ECF-453B-9B6B-12457D7294E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983ACA-0D2F-B358-B734-CCE03D32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0810C2-E652-2A0D-EA7F-5C68ABE83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AA1-F1D8-4363-A0A2-17911A159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45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A4D0350-E40D-EA45-70CA-6B6E7C7D37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915F7E-1832-9359-962F-FD79D0073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DAC5E1-D47F-D346-DEBA-0602EED1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8AA8D-6ECF-453B-9B6B-12457D7294E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C4112F-E97F-D916-DD63-B3C35E5E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149F7C-3EB8-DA82-8E50-99F95763D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15AA1-F1D8-4363-A0A2-17911A159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657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00595-410C-8608-EBED-20100C101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FD418A-35B9-FA5D-8788-EBDE84969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2EA6D2-6BB0-C28F-3120-6B3EDD0BD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8AA8D-6ECF-453B-9B6B-12457D7294E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FD9EA6-C665-9DFE-6E3B-F4D9691FF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D2957E-D63A-4982-5D21-AEDDEBCA3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15AA1-F1D8-4363-A0A2-17911A159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47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B6C30C-8D92-8CB4-EC0D-C728DCD7A8CB}"/>
              </a:ext>
            </a:extLst>
          </p:cNvPr>
          <p:cNvSpPr txBox="1"/>
          <p:nvPr/>
        </p:nvSpPr>
        <p:spPr>
          <a:xfrm>
            <a:off x="2594610" y="471577"/>
            <a:ext cx="70065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МИНИСТЕРСТВО ОБРАЗОВАНИЯ И НАУКИ РФ ТВЕРСКОЙ ГОСУДАРСТВЕННЫЙ ТЕХНИЧЕСКИЙ УНИВЕРСИТЕТ ФАКУЛЬТЕТ ИНФОРМАЦИОННЫХ ТЕХНОЛОГИЙ КАФЕДРА «ПРОГРАММНОГО ОБЕСПЕЧЕНИЯ» ДИСЦИПЛИНА «АЛГОРИТМЫ И СТРУКТУРЫ ДАННЫХ»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F40064-6FDE-53A8-7798-0ED53EB80159}"/>
              </a:ext>
            </a:extLst>
          </p:cNvPr>
          <p:cNvSpPr txBox="1"/>
          <p:nvPr/>
        </p:nvSpPr>
        <p:spPr>
          <a:xfrm>
            <a:off x="2011680" y="2783063"/>
            <a:ext cx="81724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Курсовая работа</a:t>
            </a:r>
            <a:r>
              <a:rPr lang="ru-RU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pPr algn="ctr"/>
            <a:r>
              <a:rPr lang="ru-RU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«Поисковые системы. Инвертированный индекс (</a:t>
            </a:r>
            <a:r>
              <a:rPr lang="ru-RU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Inverted</a:t>
            </a:r>
            <a:r>
              <a:rPr lang="ru-RU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ru-RU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index</a:t>
            </a:r>
            <a:r>
              <a:rPr lang="ru-RU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). Обработка булевых запросов. Система поиска вакансий»</a:t>
            </a:r>
            <a:endParaRPr lang="en-US" sz="18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975E57-0012-D551-32E4-51A9D3EDABA1}"/>
              </a:ext>
            </a:extLst>
          </p:cNvPr>
          <p:cNvSpPr txBox="1"/>
          <p:nvPr/>
        </p:nvSpPr>
        <p:spPr>
          <a:xfrm>
            <a:off x="7974793" y="4386664"/>
            <a:ext cx="367119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Выполнил студент 2-го курса</a:t>
            </a:r>
            <a:endParaRPr lang="en-US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algn="r"/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группы Б.ПИН.РИС-24.06</a:t>
            </a:r>
            <a:endParaRPr lang="en-US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algn="r"/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Думчев Данила Сергеевич</a:t>
            </a:r>
            <a:endParaRPr lang="en-US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algn="r"/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Проверил:</a:t>
            </a:r>
            <a:endParaRPr lang="en-US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algn="r"/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Мальков Александр Анатольевич</a:t>
            </a:r>
            <a:endParaRPr lang="en-US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3829B1-8F54-FD6C-EBC7-A2396405FF38}"/>
              </a:ext>
            </a:extLst>
          </p:cNvPr>
          <p:cNvSpPr txBox="1"/>
          <p:nvPr/>
        </p:nvSpPr>
        <p:spPr>
          <a:xfrm>
            <a:off x="5421777" y="6017091"/>
            <a:ext cx="13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Тверь, 2026</a:t>
            </a: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776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D35410-24FC-71C9-BF0C-82D6F42F9F4B}"/>
              </a:ext>
            </a:extLst>
          </p:cNvPr>
          <p:cNvSpPr txBox="1"/>
          <p:nvPr/>
        </p:nvSpPr>
        <p:spPr>
          <a:xfrm>
            <a:off x="4921640" y="2026469"/>
            <a:ext cx="2348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Актуальность</a:t>
            </a:r>
            <a:endParaRPr lang="en-US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6B57BF-0ED5-4619-D3DB-167885CA420A}"/>
              </a:ext>
            </a:extLst>
          </p:cNvPr>
          <p:cNvSpPr txBox="1"/>
          <p:nvPr/>
        </p:nvSpPr>
        <p:spPr>
          <a:xfrm>
            <a:off x="-10860833" y="3723087"/>
            <a:ext cx="10860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Поисковые системы – основной инструмент доступа к информации.</a:t>
            </a:r>
            <a:endParaRPr lang="en-US" alt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B5A78F5-529F-D985-40E8-6D18DDE08A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3551" y="3148379"/>
            <a:ext cx="4582196" cy="458219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A1DBDB3-A8E7-DE51-CE74-637A14C324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56665" y="4494451"/>
            <a:ext cx="927984" cy="9279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056EDB-C994-1A45-E85F-FAC7089B21F8}"/>
              </a:ext>
            </a:extLst>
          </p:cNvPr>
          <p:cNvSpPr txBox="1"/>
          <p:nvPr/>
        </p:nvSpPr>
        <p:spPr>
          <a:xfrm>
            <a:off x="-9191083" y="2257302"/>
            <a:ext cx="9191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Инвертированный индекс лежит</a:t>
            </a:r>
            <a:r>
              <a:rPr lang="en-US" alt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 в </a:t>
            </a:r>
            <a:r>
              <a:rPr lang="ru-RU" alt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основе</a:t>
            </a:r>
            <a:r>
              <a:rPr lang="en-US" alt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ru-RU" altLang="en-US" sz="18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всех </a:t>
            </a:r>
            <a:r>
              <a:rPr lang="ru-RU" alt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современных поисковиков</a:t>
            </a:r>
            <a:r>
              <a:rPr lang="en-US" alt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: Google, </a:t>
            </a:r>
            <a:r>
              <a:rPr lang="ru-RU" alt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Яндекс</a:t>
            </a:r>
            <a:r>
              <a:rPr lang="en-US" alt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, Elasticsearch, </a:t>
            </a:r>
            <a:r>
              <a:rPr lang="en-US" altLang="en-US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Solr</a:t>
            </a:r>
            <a:r>
              <a:rPr lang="en-US" alt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, Tantivy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81650B-401A-E63E-7BD2-075C69F6FD6A}"/>
                  </a:ext>
                </a:extLst>
              </p:cNvPr>
              <p:cNvSpPr txBox="1"/>
              <p:nvPr/>
            </p:nvSpPr>
            <p:spPr>
              <a:xfrm>
                <a:off x="-11085533" y="3128694"/>
                <a:ext cx="110855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ru-RU" dirty="0">
                    <a:effectLst/>
                    <a:latin typeface="Cascadia Mono" panose="020B0609020000020004" pitchFamily="49" charset="0"/>
                    <a:cs typeface="Cascadia Mono" panose="020B0609020000020004" pitchFamily="49" charset="0"/>
                  </a:rPr>
                  <a:t>Объём неструктурированных данных растёт экспоненциально (Эра зеттабайтов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0" i="1" smtClean="0">
                            <a:effectLst/>
                            <a:latin typeface="Cambria Math" panose="02040503050406030204" pitchFamily="18" charset="0"/>
                            <a:cs typeface="Cascadia Mono" panose="020B0609020000020004" pitchFamily="49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effectLst/>
                            <a:latin typeface="Cambria Math" panose="02040503050406030204" pitchFamily="18" charset="0"/>
                            <a:cs typeface="Cascadia Mono" panose="020B0609020000020004" pitchFamily="49" charset="0"/>
                          </a:rPr>
                          <m:t>10</m:t>
                        </m:r>
                      </m:e>
                      <m:sup>
                        <m:r>
                          <a:rPr lang="ru-RU" b="0" i="1" smtClean="0">
                            <a:effectLst/>
                            <a:latin typeface="Cambria Math" panose="02040503050406030204" pitchFamily="18" charset="0"/>
                            <a:cs typeface="Cascadia Mono" panose="020B0609020000020004" pitchFamily="49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ru-RU" dirty="0">
                    <a:effectLst/>
                    <a:latin typeface="Cascadia Mono" panose="020B0609020000020004" pitchFamily="49" charset="0"/>
                    <a:cs typeface="Cascadia Mono" panose="020B0609020000020004" pitchFamily="49" charset="0"/>
                  </a:rPr>
                  <a:t>гб)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81650B-401A-E63E-7BD2-075C69F6F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085533" y="3128694"/>
                <a:ext cx="11085534" cy="369332"/>
              </a:xfrm>
              <a:prstGeom prst="rect">
                <a:avLst/>
              </a:prstGeom>
              <a:blipFill>
                <a:blip r:embed="rId7"/>
                <a:stretch>
                  <a:fillRect l="-495" t="-8197" r="-121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EB2A80C8-58F6-E655-50D1-B777CF7E5123}"/>
              </a:ext>
            </a:extLst>
          </p:cNvPr>
          <p:cNvSpPr txBox="1"/>
          <p:nvPr/>
        </p:nvSpPr>
        <p:spPr>
          <a:xfrm>
            <a:off x="-7724275" y="4317480"/>
            <a:ext cx="77242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Булева модель до сих пор используется как быстрый фильтр (</a:t>
            </a:r>
            <a:r>
              <a:rPr lang="ru-RU" dirty="0" err="1"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candidate</a:t>
            </a:r>
            <a:r>
              <a:rPr lang="ru-RU" dirty="0"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ru-RU" dirty="0" err="1"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generation</a:t>
            </a:r>
            <a:r>
              <a:rPr lang="ru-RU" dirty="0"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 даже в нейронных системах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2773E5-0B06-47AF-803C-9C7F97A64926}"/>
              </a:ext>
            </a:extLst>
          </p:cNvPr>
          <p:cNvSpPr txBox="1"/>
          <p:nvPr/>
        </p:nvSpPr>
        <p:spPr>
          <a:xfrm>
            <a:off x="327660" y="6242685"/>
            <a:ext cx="290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466973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023 L 0 -0.1544 " pathEditMode="relative" rAng="0" ptsTypes="AA">
                                      <p:cBhvr>
                                        <p:cTn id="1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59259E-6 L 0.8095 -0.00278 " pathEditMode="relative" rAng="0" ptsTypes="AA">
                                      <p:cBhvr>
                                        <p:cTn id="13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69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1.85185E-6 L 0.95925 -0.00185 " pathEditMode="relative" rAng="0" ptsTypes="AA">
                                      <p:cBhvr>
                                        <p:cTn id="16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56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50"/>
                            </p:stCondLst>
                            <p:childTnLst>
                              <p:par>
                                <p:cTn id="1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4.07407E-6 L 0.94453 0.00115 " pathEditMode="relative" rAng="0" ptsTypes="AA">
                                      <p:cBhvr>
                                        <p:cTn id="1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27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7037E-7 L 0.68802 -3.7037E-7 " pathEditMode="relative" rAng="0" ptsTypes="AA">
                                      <p:cBhvr>
                                        <p:cTn id="2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40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5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7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B193CB3-E481-34EE-B152-30458D46D29F}"/>
              </a:ext>
            </a:extLst>
          </p:cNvPr>
          <p:cNvSpPr txBox="1"/>
          <p:nvPr/>
        </p:nvSpPr>
        <p:spPr>
          <a:xfrm>
            <a:off x="665582" y="1588090"/>
            <a:ext cx="108608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Цель:</a:t>
            </a:r>
            <a:r>
              <a:rPr lang="ru-RU" sz="1600" dirty="0"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изучить теоретические основы инвертированного индекса и алгоритмы обработки булевых запросов в информационно-поисковых системах</a:t>
            </a: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и разработать приложение, реализующее эти знания</a:t>
            </a:r>
            <a:r>
              <a:rPr lang="ru-RU" sz="1600" dirty="0"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55B2AE-AF9F-8C80-9D40-466D31DADCE1}"/>
              </a:ext>
            </a:extLst>
          </p:cNvPr>
          <p:cNvSpPr txBox="1"/>
          <p:nvPr/>
        </p:nvSpPr>
        <p:spPr>
          <a:xfrm>
            <a:off x="665582" y="2680081"/>
            <a:ext cx="782119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1" dirty="0"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Задачи: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Изучить алгоритмы построения инвертированного индекса (BSBI, SPIMI)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Реализовать алгоритм Single-</a:t>
            </a:r>
            <a:r>
              <a:rPr lang="ru-RU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Pass</a:t>
            </a: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In-Memory </a:t>
            </a:r>
            <a:r>
              <a:rPr lang="ru-RU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Indexing</a:t>
            </a: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(SPIMI) для построения индекса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Разработать модуль </a:t>
            </a:r>
            <a:r>
              <a:rPr lang="ru-RU" sz="16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препроцессинга</a:t>
            </a: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 текста (токенизация, нормализация, фильтрация стоп-слов)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Реализовать парсер булевых запросов с поддержкой операторов AND, OR, NOT и скобок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Разработать механизм ранжирования результатов на основе TF-IDF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Создать пользовательский интерфейс на платформе WPF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Провести тестирование разработанной системы</a:t>
            </a:r>
            <a:endParaRPr lang="ru-RU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DD54FE-32CE-AE6D-3DB1-3468FDC86BBC}"/>
              </a:ext>
            </a:extLst>
          </p:cNvPr>
          <p:cNvSpPr txBox="1"/>
          <p:nvPr/>
        </p:nvSpPr>
        <p:spPr>
          <a:xfrm>
            <a:off x="4831070" y="762000"/>
            <a:ext cx="2529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Цели и задачи</a:t>
            </a:r>
            <a:endParaRPr lang="en-US" sz="2400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E84DAC9-4C13-39EB-4778-4819D6FFB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6775" y="3238500"/>
            <a:ext cx="3743324" cy="3743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F41926-22A6-B903-5959-2DDC56864CC3}"/>
              </a:ext>
            </a:extLst>
          </p:cNvPr>
          <p:cNvSpPr txBox="1"/>
          <p:nvPr/>
        </p:nvSpPr>
        <p:spPr>
          <a:xfrm>
            <a:off x="327660" y="6242685"/>
            <a:ext cx="290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5807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ABA7EC-A104-24A9-3699-54E81403858F}"/>
              </a:ext>
            </a:extLst>
          </p:cNvPr>
          <p:cNvSpPr txBox="1"/>
          <p:nvPr/>
        </p:nvSpPr>
        <p:spPr>
          <a:xfrm>
            <a:off x="3659275" y="270461"/>
            <a:ext cx="4873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Обзор существующих решений</a:t>
            </a:r>
            <a:endParaRPr lang="en-US" sz="2400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275D37-08FA-58E1-8692-66AA9957A8A5}"/>
              </a:ext>
            </a:extLst>
          </p:cNvPr>
          <p:cNvSpPr txBox="1"/>
          <p:nvPr/>
        </p:nvSpPr>
        <p:spPr>
          <a:xfrm>
            <a:off x="11543056" y="6242685"/>
            <a:ext cx="290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DA9CD92-75DB-D89C-BD8D-24A77908E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180715"/>
              </p:ext>
            </p:extLst>
          </p:nvPr>
        </p:nvGraphicFramePr>
        <p:xfrm>
          <a:off x="751563" y="873849"/>
          <a:ext cx="10688880" cy="539496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526983">
                  <a:extLst>
                    <a:ext uri="{9D8B030D-6E8A-4147-A177-3AD203B41FA5}">
                      <a16:colId xmlns:a16="http://schemas.microsoft.com/office/drawing/2014/main" val="1154621797"/>
                    </a:ext>
                  </a:extLst>
                </a:gridCol>
                <a:gridCol w="1192955">
                  <a:extLst>
                    <a:ext uri="{9D8B030D-6E8A-4147-A177-3AD203B41FA5}">
                      <a16:colId xmlns:a16="http://schemas.microsoft.com/office/drawing/2014/main" val="3955211358"/>
                    </a:ext>
                  </a:extLst>
                </a:gridCol>
                <a:gridCol w="1405518">
                  <a:extLst>
                    <a:ext uri="{9D8B030D-6E8A-4147-A177-3AD203B41FA5}">
                      <a16:colId xmlns:a16="http://schemas.microsoft.com/office/drawing/2014/main" val="1920600226"/>
                    </a:ext>
                  </a:extLst>
                </a:gridCol>
                <a:gridCol w="1366476">
                  <a:extLst>
                    <a:ext uri="{9D8B030D-6E8A-4147-A177-3AD203B41FA5}">
                      <a16:colId xmlns:a16="http://schemas.microsoft.com/office/drawing/2014/main" val="1118939348"/>
                    </a:ext>
                  </a:extLst>
                </a:gridCol>
                <a:gridCol w="1483602">
                  <a:extLst>
                    <a:ext uri="{9D8B030D-6E8A-4147-A177-3AD203B41FA5}">
                      <a16:colId xmlns:a16="http://schemas.microsoft.com/office/drawing/2014/main" val="3511579874"/>
                    </a:ext>
                  </a:extLst>
                </a:gridCol>
                <a:gridCol w="2186363">
                  <a:extLst>
                    <a:ext uri="{9D8B030D-6E8A-4147-A177-3AD203B41FA5}">
                      <a16:colId xmlns:a16="http://schemas.microsoft.com/office/drawing/2014/main" val="2595195228"/>
                    </a:ext>
                  </a:extLst>
                </a:gridCol>
                <a:gridCol w="1526983">
                  <a:extLst>
                    <a:ext uri="{9D8B030D-6E8A-4147-A177-3AD203B41FA5}">
                      <a16:colId xmlns:a16="http://schemas.microsoft.com/office/drawing/2014/main" val="40224207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Алгоритм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Кол-во проходов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Масштабируемость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Требования к памяти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Время сложности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Преимущества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83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Наивный </a:t>
                      </a:r>
                      <a:r>
                        <a:rPr lang="en-US" dirty="0"/>
                        <a:t>in-memory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1-10 </a:t>
                      </a:r>
                      <a:r>
                        <a:rPr lang="ru-RU" dirty="0" err="1"/>
                        <a:t>гб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 (ОЗУ)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 * 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Простота реализации, быстро для малого объёма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 работает с большими данными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401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Blocked Sort-Based Indexing (BSBI)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Терабайты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Средняя (ОЗУ + Диск)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 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Работа с любым объемом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Два прохода, требуются глобальный словарь терминов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740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Single-Pass In-Memory Indexing (SPIMI)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Терабайты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 + B </a:t>
                      </a:r>
                      <a:r>
                        <a:rPr lang="en-US" dirty="0" err="1"/>
                        <a:t>logB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Экономия памяти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Merge</a:t>
                      </a:r>
                      <a:r>
                        <a:rPr lang="ru-RU" dirty="0"/>
                        <a:t> блоков дорогой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2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Distributed Indexing (MapReduce-based)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Петабайты, кластеры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 / P </a:t>
                      </a:r>
                      <a:r>
                        <a:rPr lang="en-US" dirty="0" err="1"/>
                        <a:t>logN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Масштаб для веб-уровня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Сложные настройки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717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75329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B589E6-86F6-01EF-A6E6-F57CCDD0557A}"/>
              </a:ext>
            </a:extLst>
          </p:cNvPr>
          <p:cNvSpPr txBox="1"/>
          <p:nvPr/>
        </p:nvSpPr>
        <p:spPr>
          <a:xfrm>
            <a:off x="2756785" y="701458"/>
            <a:ext cx="6678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Архитектура работы поисковой системы</a:t>
            </a:r>
            <a:endParaRPr lang="en-US" sz="2400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36B31C-E8E6-E6D7-1E5D-ECFDFC12A4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0605" y="1493731"/>
            <a:ext cx="1400825" cy="1400825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ECB8163-6D21-7410-BA43-BEB95F4D6A68}"/>
              </a:ext>
            </a:extLst>
          </p:cNvPr>
          <p:cNvSpPr/>
          <p:nvPr/>
        </p:nvSpPr>
        <p:spPr>
          <a:xfrm>
            <a:off x="2685529" y="1841328"/>
            <a:ext cx="2450143" cy="638826"/>
          </a:xfrm>
          <a:prstGeom prst="roundRec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Поисковой Движок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1777FED-1A61-3EB1-EDF4-A4D60CA4823A}"/>
              </a:ext>
            </a:extLst>
          </p:cNvPr>
          <p:cNvSpPr/>
          <p:nvPr/>
        </p:nvSpPr>
        <p:spPr>
          <a:xfrm>
            <a:off x="2868460" y="3854894"/>
            <a:ext cx="2091847" cy="951977"/>
          </a:xfrm>
          <a:prstGeom prst="roundRec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Поисковой Движок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C243CCB-F142-C436-16F3-7C4B4A75D691}"/>
              </a:ext>
            </a:extLst>
          </p:cNvPr>
          <p:cNvSpPr/>
          <p:nvPr/>
        </p:nvSpPr>
        <p:spPr>
          <a:xfrm>
            <a:off x="9216547" y="1841326"/>
            <a:ext cx="2091847" cy="638827"/>
          </a:xfrm>
          <a:prstGeom prst="roundRec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Индекс файлов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31404AA-F0E3-F840-7BEC-9E74B4B5AFF1}"/>
              </a:ext>
            </a:extLst>
          </p:cNvPr>
          <p:cNvSpPr/>
          <p:nvPr/>
        </p:nvSpPr>
        <p:spPr>
          <a:xfrm>
            <a:off x="5958214" y="1841328"/>
            <a:ext cx="2283912" cy="638825"/>
          </a:xfrm>
          <a:prstGeom prst="roundRec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Запрос разобран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13E3425-54A4-4AE9-0B89-1F3992EA15DD}"/>
              </a:ext>
            </a:extLst>
          </p:cNvPr>
          <p:cNvSpPr/>
          <p:nvPr/>
        </p:nvSpPr>
        <p:spPr>
          <a:xfrm>
            <a:off x="5745271" y="3861147"/>
            <a:ext cx="2091847" cy="951977"/>
          </a:xfrm>
          <a:prstGeom prst="roundRec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Поисковой Движок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9B81B93-F165-2A31-C421-00B7681CD24F}"/>
              </a:ext>
            </a:extLst>
          </p:cNvPr>
          <p:cNvSpPr/>
          <p:nvPr/>
        </p:nvSpPr>
        <p:spPr>
          <a:xfrm>
            <a:off x="9211587" y="4215016"/>
            <a:ext cx="2091847" cy="638829"/>
          </a:xfrm>
          <a:prstGeom prst="roundRec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Веб-</a:t>
            </a:r>
            <a:r>
              <a:rPr lang="ru-RU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краулер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992D8AB-45CC-CB28-A4DC-E28D5BECCB66}"/>
              </a:ext>
            </a:extLst>
          </p:cNvPr>
          <p:cNvSpPr/>
          <p:nvPr/>
        </p:nvSpPr>
        <p:spPr>
          <a:xfrm>
            <a:off x="9128864" y="3012514"/>
            <a:ext cx="2257294" cy="638828"/>
          </a:xfrm>
          <a:prstGeom prst="roundRect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Индексирование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A90371A-2B53-8B90-F0E7-345B13D3C6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1342" y="5367411"/>
            <a:ext cx="1312335" cy="13123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5D77735-8224-B3DB-44E3-9A7333C5B801}"/>
              </a:ext>
            </a:extLst>
          </p:cNvPr>
          <p:cNvSpPr txBox="1"/>
          <p:nvPr/>
        </p:nvSpPr>
        <p:spPr>
          <a:xfrm>
            <a:off x="9943106" y="5906358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Веб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8F5354E6-AA12-EDD9-6B2D-D35A094EA0B0}"/>
              </a:ext>
            </a:extLst>
          </p:cNvPr>
          <p:cNvCxnSpPr>
            <a:cxnSpLocks/>
          </p:cNvCxnSpPr>
          <p:nvPr/>
        </p:nvCxnSpPr>
        <p:spPr>
          <a:xfrm>
            <a:off x="1891430" y="2160740"/>
            <a:ext cx="79409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737F309B-B430-47FD-0E8A-4FF158112200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135672" y="2160741"/>
            <a:ext cx="82254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5E7AA2EA-428D-5236-9F0A-4B270DE2400E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8242126" y="2160740"/>
            <a:ext cx="974421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B5A7E4AB-4C6F-DBB0-5061-DF77EDB3D159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10257511" y="4853845"/>
            <a:ext cx="0" cy="74528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A5D46417-7F46-23C8-FD1F-5BC29F88E49F}"/>
              </a:ext>
            </a:extLst>
          </p:cNvPr>
          <p:cNvCxnSpPr>
            <a:cxnSpLocks/>
            <a:stCxn id="12" idx="0"/>
            <a:endCxn id="13" idx="2"/>
          </p:cNvCxnSpPr>
          <p:nvPr/>
        </p:nvCxnSpPr>
        <p:spPr>
          <a:xfrm flipV="1">
            <a:off x="10257511" y="3651342"/>
            <a:ext cx="0" cy="56367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5630AAD2-35F5-C848-D6E0-043DF6B219A3}"/>
              </a:ext>
            </a:extLst>
          </p:cNvPr>
          <p:cNvCxnSpPr>
            <a:cxnSpLocks/>
            <a:stCxn id="13" idx="0"/>
            <a:endCxn id="9" idx="2"/>
          </p:cNvCxnSpPr>
          <p:nvPr/>
        </p:nvCxnSpPr>
        <p:spPr>
          <a:xfrm flipV="1">
            <a:off x="10257511" y="2480153"/>
            <a:ext cx="4960" cy="53236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C2B62BDA-8EB7-9487-6C2D-F6B678626B7E}"/>
              </a:ext>
            </a:extLst>
          </p:cNvPr>
          <p:cNvCxnSpPr/>
          <p:nvPr/>
        </p:nvCxnSpPr>
        <p:spPr>
          <a:xfrm flipH="1">
            <a:off x="8592855" y="2417523"/>
            <a:ext cx="6187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C5ECA79C-D69C-7360-9651-7D9CFCB94C91}"/>
              </a:ext>
            </a:extLst>
          </p:cNvPr>
          <p:cNvCxnSpPr>
            <a:cxnSpLocks/>
          </p:cNvCxnSpPr>
          <p:nvPr/>
        </p:nvCxnSpPr>
        <p:spPr>
          <a:xfrm flipV="1">
            <a:off x="8592855" y="2417523"/>
            <a:ext cx="0" cy="19196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C32CE6F1-E39D-FA5B-6C07-6D1D0BD9BAF8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7837118" y="4337135"/>
            <a:ext cx="75573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 стрелкой 68">
            <a:extLst>
              <a:ext uri="{FF2B5EF4-FFF2-40B4-BE49-F238E27FC236}">
                <a16:creationId xmlns:a16="http://schemas.microsoft.com/office/drawing/2014/main" id="{10D4D646-045B-FB03-6243-C26F3D7290E2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>
          <a:xfrm flipH="1" flipV="1">
            <a:off x="4960307" y="4330883"/>
            <a:ext cx="784964" cy="625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B77A18A7-8262-90E4-C31F-14740D110017}"/>
              </a:ext>
            </a:extLst>
          </p:cNvPr>
          <p:cNvCxnSpPr>
            <a:stCxn id="8" idx="1"/>
            <a:endCxn id="5" idx="2"/>
          </p:cNvCxnSpPr>
          <p:nvPr/>
        </p:nvCxnSpPr>
        <p:spPr>
          <a:xfrm rot="10800000">
            <a:off x="1191018" y="2894557"/>
            <a:ext cx="1677442" cy="1436327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244D4590-06B9-881F-A0DB-DC88DDD781E0}"/>
              </a:ext>
            </a:extLst>
          </p:cNvPr>
          <p:cNvSpPr txBox="1"/>
          <p:nvPr/>
        </p:nvSpPr>
        <p:spPr>
          <a:xfrm>
            <a:off x="1716066" y="154383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Запрос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71262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C8320F-887E-D4CB-0991-56A090C03877}"/>
              </a:ext>
            </a:extLst>
          </p:cNvPr>
          <p:cNvSpPr txBox="1"/>
          <p:nvPr/>
        </p:nvSpPr>
        <p:spPr>
          <a:xfrm>
            <a:off x="4019951" y="517289"/>
            <a:ext cx="4152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Архитектура приложения</a:t>
            </a:r>
            <a:endParaRPr lang="en-US" sz="2400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9A6E4AF-D609-210F-1F39-0CD779B82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608" y="1280269"/>
            <a:ext cx="9026783" cy="459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06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E3F302-3FF0-676E-49D6-5472859BEA7B}"/>
              </a:ext>
            </a:extLst>
          </p:cNvPr>
          <p:cNvSpPr txBox="1"/>
          <p:nvPr/>
        </p:nvSpPr>
        <p:spPr>
          <a:xfrm>
            <a:off x="3118262" y="718457"/>
            <a:ext cx="5955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Технологии для реализации (</a:t>
            </a:r>
            <a:r>
              <a:rPr lang="ru-RU" sz="2400" b="1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стэк</a:t>
            </a:r>
            <a:r>
              <a:rPr lang="ru-RU" sz="24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2400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DF047E7-3773-F757-6A44-16004E8CC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394230"/>
              </p:ext>
            </p:extLst>
          </p:nvPr>
        </p:nvGraphicFramePr>
        <p:xfrm>
          <a:off x="1001268" y="1551770"/>
          <a:ext cx="10190988" cy="4211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0092">
                  <a:extLst>
                    <a:ext uri="{9D8B030D-6E8A-4147-A177-3AD203B41FA5}">
                      <a16:colId xmlns:a16="http://schemas.microsoft.com/office/drawing/2014/main" val="251021356"/>
                    </a:ext>
                  </a:extLst>
                </a:gridCol>
                <a:gridCol w="3274874">
                  <a:extLst>
                    <a:ext uri="{9D8B030D-6E8A-4147-A177-3AD203B41FA5}">
                      <a16:colId xmlns:a16="http://schemas.microsoft.com/office/drawing/2014/main" val="4279273138"/>
                    </a:ext>
                  </a:extLst>
                </a:gridCol>
                <a:gridCol w="5046022">
                  <a:extLst>
                    <a:ext uri="{9D8B030D-6E8A-4147-A177-3AD203B41FA5}">
                      <a16:colId xmlns:a16="http://schemas.microsoft.com/office/drawing/2014/main" val="2019455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Технология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Назначение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Обоснование выбора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380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C# / .NET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Язык и платформа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Строгая типизация, высокая производительность, развитые коллекции (</a:t>
                      </a:r>
                      <a:r>
                        <a:rPr lang="ru-RU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Dictionary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SortedDictionary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657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WPF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Пользовательский интерфейс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Декларативный XAML, Data </a:t>
                      </a:r>
                      <a:r>
                        <a:rPr lang="ru-RU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Binding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поддержка MVVM, богатая стилизация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94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MVVM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Архитектурный паттерн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Разделение логики и представления, упрощение тестирования, </a:t>
                      </a:r>
                      <a:r>
                        <a:rPr lang="ru-RU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переиспользуемость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140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xUnit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Тестирование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Современный фреймворк, параллельное выполнение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273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FluentAssertions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Assertions 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тестах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Читаемый синтаксис, информативные сообщения об ошибках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59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System.Text.Json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Сериализация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Встроенный, высокопроизводительный, без внешних зависимостей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728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228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9EFA5B-A40F-BFA0-AF11-82598C70A718}"/>
              </a:ext>
            </a:extLst>
          </p:cNvPr>
          <p:cNvSpPr txBox="1"/>
          <p:nvPr/>
        </p:nvSpPr>
        <p:spPr>
          <a:xfrm>
            <a:off x="2577248" y="718457"/>
            <a:ext cx="7037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Модель данных инвертированного индекса</a:t>
            </a:r>
            <a:endParaRPr lang="en-US" sz="2400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EC3EE3-D1D1-8431-4FDE-03165517B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33" y="1930610"/>
            <a:ext cx="5233367" cy="3194495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579AFCA-1BE0-6B4E-DEDC-8BED03121859}"/>
              </a:ext>
            </a:extLst>
          </p:cNvPr>
          <p:cNvSpPr/>
          <p:nvPr/>
        </p:nvSpPr>
        <p:spPr>
          <a:xfrm>
            <a:off x="7306056" y="1481874"/>
            <a:ext cx="3483864" cy="1216152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Inverted Index</a:t>
            </a:r>
          </a:p>
          <a:p>
            <a:r>
              <a:rPr lang="en-US" sz="1400" dirty="0">
                <a:solidFill>
                  <a:schemeClr val="tx1"/>
                </a:solidFill>
              </a:rPr>
              <a:t>Index: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SortedDictionary</a:t>
            </a:r>
            <a:r>
              <a:rPr lang="en-US" sz="1400" dirty="0">
                <a:solidFill>
                  <a:schemeClr val="tx1"/>
                </a:solidFill>
              </a:rPr>
              <a:t>&lt;string, </a:t>
            </a:r>
            <a:r>
              <a:rPr lang="en-US" sz="1400" dirty="0" err="1">
                <a:solidFill>
                  <a:schemeClr val="tx1"/>
                </a:solidFill>
              </a:rPr>
              <a:t>PostingList</a:t>
            </a:r>
            <a:r>
              <a:rPr lang="en-US" sz="1400" dirty="0">
                <a:solidFill>
                  <a:schemeClr val="tx1"/>
                </a:solidFill>
              </a:rPr>
              <a:t>&gt;</a:t>
            </a:r>
          </a:p>
          <a:p>
            <a:r>
              <a:rPr lang="en-US" sz="1400" dirty="0">
                <a:solidFill>
                  <a:schemeClr val="tx1"/>
                </a:solidFill>
              </a:rPr>
              <a:t>Documents: Dictionary&lt;int, Vacancy&gt;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7B0FA01-1F29-31F5-16CD-378A6F3C1D5F}"/>
              </a:ext>
            </a:extLst>
          </p:cNvPr>
          <p:cNvSpPr/>
          <p:nvPr/>
        </p:nvSpPr>
        <p:spPr>
          <a:xfrm>
            <a:off x="6983500" y="4564257"/>
            <a:ext cx="1703832" cy="1045896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Posting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DocId</a:t>
            </a:r>
            <a:r>
              <a:rPr lang="en-US" sz="1400" dirty="0">
                <a:solidFill>
                  <a:schemeClr val="tx1"/>
                </a:solidFill>
              </a:rPr>
              <a:t>: int</a:t>
            </a:r>
          </a:p>
          <a:p>
            <a:r>
              <a:rPr lang="en-US" sz="1400" dirty="0">
                <a:solidFill>
                  <a:schemeClr val="tx1"/>
                </a:solidFill>
              </a:rPr>
              <a:t>Positions: List&lt;int&gt;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9CD47E-9DFD-A5D3-7F34-715C225397C1}"/>
              </a:ext>
            </a:extLst>
          </p:cNvPr>
          <p:cNvSpPr/>
          <p:nvPr/>
        </p:nvSpPr>
        <p:spPr>
          <a:xfrm>
            <a:off x="9697567" y="3046353"/>
            <a:ext cx="2184705" cy="2227244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Vacancy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DocId</a:t>
            </a:r>
            <a:r>
              <a:rPr lang="en-US" sz="1400" dirty="0">
                <a:solidFill>
                  <a:schemeClr val="tx1"/>
                </a:solidFill>
              </a:rPr>
              <a:t>: int</a:t>
            </a:r>
          </a:p>
          <a:p>
            <a:r>
              <a:rPr lang="en-US" sz="1400" dirty="0">
                <a:solidFill>
                  <a:schemeClr val="tx1"/>
                </a:solidFill>
              </a:rPr>
              <a:t>Title: string</a:t>
            </a:r>
          </a:p>
          <a:p>
            <a:r>
              <a:rPr lang="en-US" sz="1400" dirty="0">
                <a:solidFill>
                  <a:schemeClr val="tx1"/>
                </a:solidFill>
              </a:rPr>
              <a:t>Company: string</a:t>
            </a:r>
          </a:p>
          <a:p>
            <a:r>
              <a:rPr lang="en-US" sz="1400" dirty="0">
                <a:solidFill>
                  <a:schemeClr val="tx1"/>
                </a:solidFill>
              </a:rPr>
              <a:t>Description: string</a:t>
            </a:r>
          </a:p>
          <a:p>
            <a:r>
              <a:rPr lang="en-US" sz="1400" dirty="0">
                <a:solidFill>
                  <a:schemeClr val="tx1"/>
                </a:solidFill>
              </a:rPr>
              <a:t>Location: string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SalaryFrom</a:t>
            </a:r>
            <a:r>
              <a:rPr lang="en-US" sz="1400" dirty="0">
                <a:solidFill>
                  <a:schemeClr val="tx1"/>
                </a:solidFill>
              </a:rPr>
              <a:t>/to: decimal?</a:t>
            </a:r>
          </a:p>
          <a:p>
            <a:r>
              <a:rPr lang="en-US" sz="1400" dirty="0">
                <a:solidFill>
                  <a:schemeClr val="tx1"/>
                </a:solidFill>
              </a:rPr>
              <a:t>Tags: List&lt;string&gt;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4B663D8-9401-6BD7-7E36-103CF76DBE76}"/>
              </a:ext>
            </a:extLst>
          </p:cNvPr>
          <p:cNvSpPr/>
          <p:nvPr/>
        </p:nvSpPr>
        <p:spPr>
          <a:xfrm>
            <a:off x="6743064" y="3046353"/>
            <a:ext cx="2184705" cy="1216152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PostingList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Term: string</a:t>
            </a:r>
          </a:p>
          <a:p>
            <a:r>
              <a:rPr lang="en-US" sz="1400" dirty="0">
                <a:solidFill>
                  <a:schemeClr val="tx1"/>
                </a:solidFill>
              </a:rPr>
              <a:t>Postings: List&lt;Postings&gt;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DocumentFrequency</a:t>
            </a:r>
            <a:r>
              <a:rPr lang="en-US" sz="1400" dirty="0">
                <a:solidFill>
                  <a:schemeClr val="tx1"/>
                </a:solidFill>
              </a:rPr>
              <a:t>: int</a:t>
            </a:r>
          </a:p>
        </p:txBody>
      </p:sp>
      <p:cxnSp>
        <p:nvCxnSpPr>
          <p:cNvPr id="9" name="Соединитель: уступ 8">
            <a:extLst>
              <a:ext uri="{FF2B5EF4-FFF2-40B4-BE49-F238E27FC236}">
                <a16:creationId xmlns:a16="http://schemas.microsoft.com/office/drawing/2014/main" id="{E98CA44D-53FB-A6F6-95B0-C29F0C9F67F5}"/>
              </a:ext>
            </a:extLst>
          </p:cNvPr>
          <p:cNvCxnSpPr>
            <a:stCxn id="4" idx="2"/>
            <a:endCxn id="7" idx="0"/>
          </p:cNvCxnSpPr>
          <p:nvPr/>
        </p:nvCxnSpPr>
        <p:spPr>
          <a:xfrm rot="5400000">
            <a:off x="8267540" y="2265904"/>
            <a:ext cx="348327" cy="1212571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Соединитель: уступ 10">
            <a:extLst>
              <a:ext uri="{FF2B5EF4-FFF2-40B4-BE49-F238E27FC236}">
                <a16:creationId xmlns:a16="http://schemas.microsoft.com/office/drawing/2014/main" id="{14618995-0E19-C3D7-4181-B86C3B09F5AC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16200000" flipH="1">
            <a:off x="9744791" y="2001223"/>
            <a:ext cx="348327" cy="1741932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: уступ 12">
            <a:extLst>
              <a:ext uri="{FF2B5EF4-FFF2-40B4-BE49-F238E27FC236}">
                <a16:creationId xmlns:a16="http://schemas.microsoft.com/office/drawing/2014/main" id="{137BAD3C-43B0-2CA1-5369-601C3DCC3C17}"/>
              </a:ext>
            </a:extLst>
          </p:cNvPr>
          <p:cNvCxnSpPr>
            <a:stCxn id="7" idx="2"/>
            <a:endCxn id="5" idx="0"/>
          </p:cNvCxnSpPr>
          <p:nvPr/>
        </p:nvCxnSpPr>
        <p:spPr>
          <a:xfrm rot="5400000">
            <a:off x="7684541" y="4413381"/>
            <a:ext cx="301752" cy="1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640DF2E-1D0A-1285-5FE6-0FDEEA60E23B}"/>
              </a:ext>
            </a:extLst>
          </p:cNvPr>
          <p:cNvSpPr txBox="1"/>
          <p:nvPr/>
        </p:nvSpPr>
        <p:spPr>
          <a:xfrm>
            <a:off x="1481328" y="5333154"/>
            <a:ext cx="41344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Cascadia Mono" panose="020B0609020000020004" pitchFamily="49" charset="0"/>
                <a:cs typeface="Cascadia Mono" panose="020B0609020000020004" pitchFamily="49" charset="0"/>
              </a:rPr>
              <a:t>Сравнение прямого и инвертированного индекса</a:t>
            </a:r>
            <a:endParaRPr lang="en-US" sz="12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706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5E0508-DBB0-3B3B-1EFF-09723EF52133}"/>
              </a:ext>
            </a:extLst>
          </p:cNvPr>
          <p:cNvSpPr txBox="1"/>
          <p:nvPr/>
        </p:nvSpPr>
        <p:spPr>
          <a:xfrm>
            <a:off x="1763725" y="535577"/>
            <a:ext cx="8664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Алгоритм </a:t>
            </a:r>
            <a:r>
              <a:rPr lang="en-US" sz="24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Single-Pass In-Memory Indexing (SPIMI)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AA7ACFB-946E-81A9-73CF-1096401D8451}"/>
              </a:ext>
            </a:extLst>
          </p:cNvPr>
          <p:cNvSpPr/>
          <p:nvPr/>
        </p:nvSpPr>
        <p:spPr>
          <a:xfrm>
            <a:off x="3094710" y="1444752"/>
            <a:ext cx="1765859" cy="4616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№1</a:t>
            </a:r>
            <a:endParaRPr lang="en-US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39D729C-5608-633E-E6CA-928C594F6ECA}"/>
              </a:ext>
            </a:extLst>
          </p:cNvPr>
          <p:cNvSpPr/>
          <p:nvPr/>
        </p:nvSpPr>
        <p:spPr>
          <a:xfrm>
            <a:off x="5112486" y="1444751"/>
            <a:ext cx="1765859" cy="4616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№2</a:t>
            </a:r>
            <a:endParaRPr lang="en-US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BDF14F8-AC8B-19C3-0236-CA6BDDEB874B}"/>
              </a:ext>
            </a:extLst>
          </p:cNvPr>
          <p:cNvSpPr/>
          <p:nvPr/>
        </p:nvSpPr>
        <p:spPr>
          <a:xfrm>
            <a:off x="7130262" y="1444750"/>
            <a:ext cx="1765859" cy="4616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№</a:t>
            </a:r>
            <a:r>
              <a:rPr lang="en-US" dirty="0"/>
              <a:t>n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60C5CC9-F290-4553-07F3-E693C2486DE6}"/>
              </a:ext>
            </a:extLst>
          </p:cNvPr>
          <p:cNvSpPr/>
          <p:nvPr/>
        </p:nvSpPr>
        <p:spPr>
          <a:xfrm>
            <a:off x="4274286" y="2405685"/>
            <a:ext cx="3643427" cy="1026361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Препроцессинг</a:t>
            </a:r>
            <a:endParaRPr lang="ru-RU" dirty="0"/>
          </a:p>
          <a:p>
            <a:r>
              <a:rPr lang="ru-RU" dirty="0"/>
              <a:t>Токенизация </a:t>
            </a:r>
            <a:r>
              <a:rPr lang="ru-RU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ru-RU" dirty="0">
                <a:sym typeface="Wingdings" panose="05000000000000000000" pitchFamily="2" charset="2"/>
              </a:rPr>
              <a:t>Нормализация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ru-RU" dirty="0">
                <a:sym typeface="Wingdings" panose="05000000000000000000" pitchFamily="2" charset="2"/>
              </a:rPr>
              <a:t>Фильтрация стоп-слов</a:t>
            </a:r>
            <a:endParaRPr lang="en-US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ECC7108-DCB5-A60E-36DE-1A4370A8CB5D}"/>
              </a:ext>
            </a:extLst>
          </p:cNvPr>
          <p:cNvSpPr/>
          <p:nvPr/>
        </p:nvSpPr>
        <p:spPr>
          <a:xfrm>
            <a:off x="4695444" y="3676916"/>
            <a:ext cx="2801113" cy="1026361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SPIMI-Invert</a:t>
            </a:r>
          </a:p>
          <a:p>
            <a:r>
              <a:rPr lang="ru-RU" dirty="0"/>
              <a:t>Блок 1 </a:t>
            </a:r>
            <a:r>
              <a:rPr lang="en-US" dirty="0"/>
              <a:t>| </a:t>
            </a:r>
            <a:r>
              <a:rPr lang="ru-RU" dirty="0"/>
              <a:t>Блок 2</a:t>
            </a:r>
            <a:r>
              <a:rPr lang="en-US" dirty="0"/>
              <a:t> | </a:t>
            </a:r>
            <a:r>
              <a:rPr lang="ru-RU" dirty="0"/>
              <a:t>Блок К</a:t>
            </a:r>
          </a:p>
          <a:p>
            <a:r>
              <a:rPr lang="ru-RU" dirty="0"/>
              <a:t>(при заполнении - сброс)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14916A8-AADE-7E0A-8199-175426939909}"/>
              </a:ext>
            </a:extLst>
          </p:cNvPr>
          <p:cNvSpPr/>
          <p:nvPr/>
        </p:nvSpPr>
        <p:spPr>
          <a:xfrm>
            <a:off x="4182350" y="4926597"/>
            <a:ext cx="3827300" cy="803041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Multi-Way Merge</a:t>
            </a:r>
          </a:p>
          <a:p>
            <a:r>
              <a:rPr lang="ru-RU" dirty="0"/>
              <a:t>Слияние всех блоков в один индекс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4B27536-800B-787E-E7AE-BE50BFDBCA80}"/>
              </a:ext>
            </a:extLst>
          </p:cNvPr>
          <p:cNvSpPr/>
          <p:nvPr/>
        </p:nvSpPr>
        <p:spPr>
          <a:xfrm>
            <a:off x="4542015" y="5947076"/>
            <a:ext cx="3107970" cy="4616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Инвертированный индекс</a:t>
            </a:r>
            <a:endParaRPr lang="en-US" dirty="0"/>
          </a:p>
        </p:txBody>
      </p:sp>
      <p:sp>
        <p:nvSpPr>
          <p:cNvPr id="11" name="Правая фигурная скобка 10">
            <a:extLst>
              <a:ext uri="{FF2B5EF4-FFF2-40B4-BE49-F238E27FC236}">
                <a16:creationId xmlns:a16="http://schemas.microsoft.com/office/drawing/2014/main" id="{4D542184-CAC5-AF72-7B97-78691BF0B720}"/>
              </a:ext>
            </a:extLst>
          </p:cNvPr>
          <p:cNvSpPr/>
          <p:nvPr/>
        </p:nvSpPr>
        <p:spPr>
          <a:xfrm rot="5400000">
            <a:off x="5908548" y="233449"/>
            <a:ext cx="374904" cy="38273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850522B3-FEC0-9750-D705-1EFFEED68168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6096000" y="3432046"/>
            <a:ext cx="1" cy="2448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D514676-B005-900E-0C21-77788355A0AC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6096000" y="4703277"/>
            <a:ext cx="1" cy="2233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58A1145B-EB2A-10AA-531A-B94617C50FB0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6096000" y="5729638"/>
            <a:ext cx="0" cy="2174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325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19F1C3-BC42-BB03-62D1-AB9E9D21E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83" y="1221306"/>
            <a:ext cx="8466634" cy="51520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DB0D25-6C39-6AF9-2A71-64704D3C28B3}"/>
              </a:ext>
            </a:extLst>
          </p:cNvPr>
          <p:cNvSpPr txBox="1"/>
          <p:nvPr/>
        </p:nvSpPr>
        <p:spPr>
          <a:xfrm>
            <a:off x="3749043" y="535577"/>
            <a:ext cx="4693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Интерфейс. Поиск вакансий</a:t>
            </a:r>
            <a:endParaRPr lang="en-US" sz="2400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965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F02FA-E9B8-FBD4-3FA1-9A879A5A4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D8C488-5EBC-651F-9EFE-365069B17221}"/>
              </a:ext>
            </a:extLst>
          </p:cNvPr>
          <p:cNvSpPr txBox="1"/>
          <p:nvPr/>
        </p:nvSpPr>
        <p:spPr>
          <a:xfrm>
            <a:off x="3749043" y="535577"/>
            <a:ext cx="4693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Интерфейс. Поиск вакансий</a:t>
            </a:r>
            <a:endParaRPr lang="en-US" sz="2400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FF7AC5-A62F-C944-3D79-5A2011A19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032" y="1153248"/>
            <a:ext cx="8545936" cy="523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46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74990F-2BDF-DFA6-C3C0-CF3B4102C2D7}"/>
              </a:ext>
            </a:extLst>
          </p:cNvPr>
          <p:cNvSpPr txBox="1"/>
          <p:nvPr/>
        </p:nvSpPr>
        <p:spPr>
          <a:xfrm>
            <a:off x="4921640" y="535577"/>
            <a:ext cx="2348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Тестирование</a:t>
            </a:r>
            <a:endParaRPr lang="en-US" sz="2400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D9E8B7-47E5-B295-D382-E3F3885A09E4}"/>
              </a:ext>
            </a:extLst>
          </p:cNvPr>
          <p:cNvSpPr txBox="1"/>
          <p:nvPr/>
        </p:nvSpPr>
        <p:spPr>
          <a:xfrm>
            <a:off x="1095375" y="1216813"/>
            <a:ext cx="10001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Mono" panose="020B0609020000020004" pitchFamily="49" charset="0"/>
                <a:cs typeface="Cascadia Mono" panose="020B0609020000020004" pitchFamily="49" charset="0"/>
              </a:rPr>
              <a:t>Подход к тестированию: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scadia Mono" panose="020B0609020000020004" pitchFamily="49" charset="0"/>
                <a:cs typeface="Cascadia Mono" panose="020B0609020000020004" pitchFamily="49" charset="0"/>
              </a:rPr>
              <a:t>Модульное (</a:t>
            </a:r>
            <a:r>
              <a:rPr lang="ru-RU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unit</a:t>
            </a:r>
            <a:r>
              <a:rPr lang="ru-RU" dirty="0">
                <a:latin typeface="Cascadia Mono" panose="020B0609020000020004" pitchFamily="49" charset="0"/>
                <a:cs typeface="Cascadia Mono" panose="020B0609020000020004" pitchFamily="49" charset="0"/>
              </a:rPr>
              <a:t>) тестирование с использованием </a:t>
            </a:r>
            <a:r>
              <a:rPr lang="ru-RU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xUnit</a:t>
            </a:r>
            <a:r>
              <a:rPr lang="ru-RU" dirty="0">
                <a:latin typeface="Cascadia Mono" panose="020B0609020000020004" pitchFamily="49" charset="0"/>
                <a:cs typeface="Cascadia Mono" panose="020B0609020000020004" pitchFamily="49" charset="0"/>
              </a:rPr>
              <a:t> + </a:t>
            </a:r>
            <a:r>
              <a:rPr lang="ru-RU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FluentAssertions</a:t>
            </a:r>
            <a:endParaRPr lang="ru-RU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scadia Mono" panose="020B0609020000020004" pitchFamily="49" charset="0"/>
                <a:cs typeface="Cascadia Mono" panose="020B0609020000020004" pitchFamily="49" charset="0"/>
              </a:rPr>
              <a:t>Покрытие всех ключевых модулей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ascadia Mono" panose="020B0609020000020004" pitchFamily="49" charset="0"/>
                <a:cs typeface="Cascadia Mono" panose="020B0609020000020004" pitchFamily="49" charset="0"/>
              </a:rPr>
              <a:t>Тестирование граничных случаев и ошибочных сценариев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02ED879-3678-D7C3-CAB7-5881A1A21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07302"/>
              </p:ext>
            </p:extLst>
          </p:nvPr>
        </p:nvGraphicFramePr>
        <p:xfrm>
          <a:off x="1845182" y="2688335"/>
          <a:ext cx="8660702" cy="38004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9122">
                  <a:extLst>
                    <a:ext uri="{9D8B030D-6E8A-4147-A177-3AD203B41FA5}">
                      <a16:colId xmlns:a16="http://schemas.microsoft.com/office/drawing/2014/main" val="2607023102"/>
                    </a:ext>
                  </a:extLst>
                </a:gridCol>
                <a:gridCol w="1268722">
                  <a:extLst>
                    <a:ext uri="{9D8B030D-6E8A-4147-A177-3AD203B41FA5}">
                      <a16:colId xmlns:a16="http://schemas.microsoft.com/office/drawing/2014/main" val="906924010"/>
                    </a:ext>
                  </a:extLst>
                </a:gridCol>
                <a:gridCol w="5462858">
                  <a:extLst>
                    <a:ext uri="{9D8B030D-6E8A-4147-A177-3AD203B41FA5}">
                      <a16:colId xmlns:a16="http://schemas.microsoft.com/office/drawing/2014/main" val="3379319866"/>
                    </a:ext>
                  </a:extLst>
                </a:gridCol>
              </a:tblGrid>
              <a:tr h="2258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Модуль</a:t>
                      </a: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Кол-во тестов</a:t>
                      </a:r>
                    </a:p>
                  </a:txBody>
                  <a:tcPr marL="56511" marR="56511" marT="28255" marB="28255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Что проверяется</a:t>
                      </a:r>
                    </a:p>
                  </a:txBody>
                  <a:tcPr marL="56511" marR="56511" marT="28255" marB="28255" anchor="b"/>
                </a:tc>
                <a:extLst>
                  <a:ext uri="{0D108BD9-81ED-4DB2-BD59-A6C34878D82A}">
                    <a16:rowId xmlns:a16="http://schemas.microsoft.com/office/drawing/2014/main" val="2041608631"/>
                  </a:ext>
                </a:extLst>
              </a:tr>
              <a:tr h="31361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Tokenizer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10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Разбиение текста, спецсимволы, пустые строки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3372350891"/>
                  </a:ext>
                </a:extLst>
              </a:tr>
              <a:tr h="395287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TextNormalizer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8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Приведение к нижнему регистру, кириллица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363991200"/>
                  </a:ext>
                </a:extLst>
              </a:tr>
              <a:tr h="30880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StopWordsFilter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17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Фильтрация стоп-слов, однобуквенные токены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2354012017"/>
                  </a:ext>
                </a:extLst>
              </a:tr>
              <a:tr h="395287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TextPreprocessor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4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Полный конвейер обработки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961151389"/>
                  </a:ext>
                </a:extLst>
              </a:tr>
              <a:tr h="3545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SPIMIIndexer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7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Построение индекса, несколько блоков, позиции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114493943"/>
                  </a:ext>
                </a:extLst>
              </a:tr>
              <a:tr h="395287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IndexMerger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5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Слияние блоков, сортировка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2409286765"/>
                  </a:ext>
                </a:extLst>
              </a:tr>
              <a:tr h="395287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BooleanQueryParser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16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Операторы, приоритет, скобки, ошибки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4225876570"/>
                  </a:ext>
                </a:extLst>
              </a:tr>
              <a:tr h="395287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BooleanQueryEvaluator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10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AND, OR, NOT, сложные запросы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3330887009"/>
                  </a:ext>
                </a:extLst>
              </a:tr>
              <a:tr h="395287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SearchEngine</a:t>
                      </a: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1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7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Поиск, ранжирование, режимы, ошибки</a:t>
                      </a:r>
                    </a:p>
                  </a:txBody>
                  <a:tcPr marL="56511" marR="56511" marT="28255" marB="28255" anchor="ctr"/>
                </a:tc>
                <a:extLst>
                  <a:ext uri="{0D108BD9-81ED-4DB2-BD59-A6C34878D82A}">
                    <a16:rowId xmlns:a16="http://schemas.microsoft.com/office/drawing/2014/main" val="543318341"/>
                  </a:ext>
                </a:extLst>
              </a:tr>
              <a:tr h="225879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 b="1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Итого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94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marL="56511" marR="56511" marT="28255" marB="28255" anchor="ctr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chemeClr val="tx1"/>
                        </a:solidFill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 marL="56511" marR="56511" marT="28255" marB="28255"/>
                </a:tc>
                <a:extLst>
                  <a:ext uri="{0D108BD9-81ED-4DB2-BD59-A6C34878D82A}">
                    <a16:rowId xmlns:a16="http://schemas.microsoft.com/office/drawing/2014/main" val="1914838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939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566B4235-3790-A43A-3F27-D57DC84A8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180721"/>
              </p:ext>
            </p:extLst>
          </p:nvPr>
        </p:nvGraphicFramePr>
        <p:xfrm>
          <a:off x="1982267" y="1671952"/>
          <a:ext cx="8227465" cy="417246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10188">
                  <a:extLst>
                    <a:ext uri="{9D8B030D-6E8A-4147-A177-3AD203B41FA5}">
                      <a16:colId xmlns:a16="http://schemas.microsoft.com/office/drawing/2014/main" val="2480891559"/>
                    </a:ext>
                  </a:extLst>
                </a:gridCol>
                <a:gridCol w="3161402">
                  <a:extLst>
                    <a:ext uri="{9D8B030D-6E8A-4147-A177-3AD203B41FA5}">
                      <a16:colId xmlns:a16="http://schemas.microsoft.com/office/drawing/2014/main" val="719629161"/>
                    </a:ext>
                  </a:extLst>
                </a:gridCol>
                <a:gridCol w="2386258">
                  <a:extLst>
                    <a:ext uri="{9D8B030D-6E8A-4147-A177-3AD203B41FA5}">
                      <a16:colId xmlns:a16="http://schemas.microsoft.com/office/drawing/2014/main" val="586717265"/>
                    </a:ext>
                  </a:extLst>
                </a:gridCol>
                <a:gridCol w="869617">
                  <a:extLst>
                    <a:ext uri="{9D8B030D-6E8A-4147-A177-3AD203B41FA5}">
                      <a16:colId xmlns:a16="http://schemas.microsoft.com/office/drawing/2014/main" val="4167552387"/>
                    </a:ext>
                  </a:extLst>
                </a:gridCol>
              </a:tblGrid>
              <a:tr h="3958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600" b="1">
                          <a:solidFill>
                            <a:schemeClr val="tx1"/>
                          </a:solidFill>
                          <a:effectLst/>
                        </a:rPr>
                        <a:t>Тест</a:t>
                      </a:r>
                    </a:p>
                  </a:txBody>
                  <a:tcPr marL="82101" marR="82101" marT="41050" marB="4105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Входные данные</a:t>
                      </a:r>
                    </a:p>
                  </a:txBody>
                  <a:tcPr marL="82101" marR="82101" marT="41050" marB="4105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600" b="1">
                          <a:solidFill>
                            <a:schemeClr val="tx1"/>
                          </a:solidFill>
                          <a:effectLst/>
                        </a:rPr>
                        <a:t>Ожидаемый результат</a:t>
                      </a:r>
                    </a:p>
                  </a:txBody>
                  <a:tcPr marL="82101" marR="82101" marT="41050" marB="4105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Статус</a:t>
                      </a:r>
                    </a:p>
                  </a:txBody>
                  <a:tcPr marL="82101" marR="82101" marT="41050" marB="41050" anchor="b"/>
                </a:tc>
                <a:extLst>
                  <a:ext uri="{0D108BD9-81ED-4DB2-BD59-A6C34878D82A}">
                    <a16:rowId xmlns:a16="http://schemas.microsoft.com/office/drawing/2014/main" val="95841060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  <a:t>Токенизация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C#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"C# .NET"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["C#", ".NET"]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✅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971213293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Фильтрация стоп-слов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["python", "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в", "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</a:rPr>
                        <a:t>django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"]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["python", "django"]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✅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561814533"/>
                  </a:ext>
                </a:extLst>
              </a:tr>
              <a:tr h="821007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AND-</a:t>
                      </a: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запрос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python ∩ java (docs: [1,3,5] ∩ [2,5])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[5]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✅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464243052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NOT-</a:t>
                      </a: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запрос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NOT python (all: [1-5])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[2, 4]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✅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4046519044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Парсинг скобок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"(a OR b) AND c"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AND(OR(a,b), c)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✅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7728487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Ошибка синтаксиса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"(python AND"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FormatException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✅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93136785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Поиск без индекса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</a:rPr>
                        <a:t>Search("python")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InvalidOperationException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✅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0018613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C87C406-E101-46FE-5C61-0A14A9E32A13}"/>
              </a:ext>
            </a:extLst>
          </p:cNvPr>
          <p:cNvSpPr txBox="1"/>
          <p:nvPr/>
        </p:nvSpPr>
        <p:spPr>
          <a:xfrm>
            <a:off x="4290057" y="535577"/>
            <a:ext cx="3611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Пример тестирования</a:t>
            </a:r>
            <a:endParaRPr lang="en-US" sz="2400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7698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908</Words>
  <Application>Microsoft Office PowerPoint</Application>
  <PresentationFormat>Широкоэкранный</PresentationFormat>
  <Paragraphs>206</Paragraphs>
  <Slides>13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Cascadia Code</vt:lpstr>
      <vt:lpstr>Cascadia Mono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Данила Думчев</dc:creator>
  <cp:lastModifiedBy>Данила Думчев</cp:lastModifiedBy>
  <cp:revision>14</cp:revision>
  <dcterms:created xsi:type="dcterms:W3CDTF">2026-02-17T16:58:37Z</dcterms:created>
  <dcterms:modified xsi:type="dcterms:W3CDTF">2026-04-07T11:14:37Z</dcterms:modified>
</cp:coreProperties>
</file>